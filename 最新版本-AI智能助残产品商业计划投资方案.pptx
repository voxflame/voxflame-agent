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1.svg" ContentType="image/svg+xml"/>
  <Override PartName="/ppt/media/image103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3.svg" ContentType="image/svg+xml"/>
  <Override PartName="/ppt/media/image85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34"/>
  </p:handoutMasterIdLst>
  <p:sldIdLst>
    <p:sldId id="268" r:id="rId4"/>
    <p:sldId id="327" r:id="rId5"/>
    <p:sldId id="350" r:id="rId7"/>
    <p:sldId id="329" r:id="rId8"/>
    <p:sldId id="328" r:id="rId9"/>
    <p:sldId id="336" r:id="rId10"/>
    <p:sldId id="358" r:id="rId11"/>
    <p:sldId id="361" r:id="rId12"/>
    <p:sldId id="360" r:id="rId13"/>
    <p:sldId id="335" r:id="rId14"/>
    <p:sldId id="352" r:id="rId15"/>
    <p:sldId id="334" r:id="rId16"/>
    <p:sldId id="355" r:id="rId17"/>
    <p:sldId id="333" r:id="rId18"/>
    <p:sldId id="332" r:id="rId19"/>
    <p:sldId id="331" r:id="rId20"/>
    <p:sldId id="338" r:id="rId21"/>
    <p:sldId id="340" r:id="rId22"/>
    <p:sldId id="341" r:id="rId23"/>
    <p:sldId id="343" r:id="rId24"/>
    <p:sldId id="345" r:id="rId25"/>
    <p:sldId id="347" r:id="rId26"/>
    <p:sldId id="348" r:id="rId27"/>
    <p:sldId id="349" r:id="rId28"/>
    <p:sldId id="344" r:id="rId29"/>
    <p:sldId id="342" r:id="rId30"/>
    <p:sldId id="339" r:id="rId31"/>
    <p:sldId id="356" r:id="rId32"/>
    <p:sldId id="318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6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  <p:cmAuthor id="2" name="Mia Vida Villanueva" initials="MVV" lastIdx="0" clrIdx="1"/>
  <p:cmAuthor id="3" name="songhongqin" initials="shq" lastIdx="0" clrIdx="2"/>
  <p:cmAuthor id="4" name="admin" initials="a" lastIdx="0" clrIdx="3"/>
  <p:cmAuthor id="5" name="Administrator" initials="A" lastIdx="0" clrIdx="4"/>
  <p:cmAuthor id="6" name="liwyin" initials="l" lastIdx="0" clrIdx="5"/>
  <p:cmAuthor id="7" name="ming qiu" initials="m" lastIdx="0" clrIdx="6"/>
  <p:cmAuthor id="8" name="1206988966@qq.com" initials="1" lastIdx="0" clrIdx="7"/>
  <p:cmAuthor id="9" name="姜伟光" initials="姜" lastIdx="0" clrIdx="8"/>
  <p:cmAuthor id="10" name="风控部" initials="风" lastIdx="0" clrIdx="9"/>
  <p:cmAuthor id="11" name="chibupang" initials="c" lastIdx="0" clrIdx="10"/>
  <p:cmAuthor id="12" name="迟美运" initials="迟" lastIdx="0" clrIdx="11"/>
  <p:cmAuthor id="13" name="asus" initials="a" lastIdx="0" clrIdx="12"/>
  <p:cmAuthor id="14" name="23140" initials="2" lastIdx="0" clrIdx="13"/>
  <p:cmAuthor id="15" name="86131" initials="8" lastIdx="0" clrIdx="14"/>
  <p:cmAuthor id="16" name="TY-TT" initials="T" lastIdx="0" clrIdx="15"/>
  <p:cmAuthor id="17" name="Sun" initials="S" lastIdx="0" clrIdx="16"/>
  <p:cmAuthor id="18" name="李 文吟" initials="李" lastIdx="0" clrIdx="17"/>
  <p:cmAuthor id="19" name="CCRC-PX" initials="C" lastIdx="0" clrIdx="18"/>
  <p:cmAuthor id="20" name="jtjihua" initials="j" lastIdx="0" clrIdx="19"/>
  <p:cmAuthor id="21" name="yyglb" initials="y" lastIdx="0" clrIdx="20"/>
  <p:cmAuthor id="22" name="未知用户93" initials="" lastIdx="0" clrIdx="21"/>
  <p:cmAuthor id="23" name="未知用户90" initials="" lastIdx="0" clrIdx="22"/>
  <p:cmAuthor id="24" name="未知用户91" initials="" lastIdx="0" clrIdx="23"/>
  <p:cmAuthor id="25" name="未知用户92" initials="" lastIdx="0" clrIdx="24"/>
  <p:cmAuthor id="26" name="未知用户74" initials="" lastIdx="0" clrIdx="25"/>
  <p:cmAuthor id="27" name="未知用户75" initials="" lastIdx="0" clrIdx="26"/>
  <p:cmAuthor id="28" name="未知用户76" initials="" lastIdx="0" clrIdx="27"/>
  <p:cmAuthor id="29" name="未知用户77" initials="" lastIdx="0" clrIdx="28"/>
  <p:cmAuthor id="30" name="未知用户79" initials="" lastIdx="0" clrIdx="29"/>
  <p:cmAuthor id="31" name="未知用户80" initials="" lastIdx="0" clrIdx="30"/>
  <p:cmAuthor id="32" name="Harry xu" initials="" lastIdx="0" clrIdx="31"/>
  <p:cmAuthor id="33" name="谢学斌" initials="谢" lastIdx="0" clrIdx="32"/>
  <p:cmAuthor id="34" name="未知用户111" initials="未" lastIdx="0" clrIdx="33"/>
  <p:cmAuthor id="35" name="CCRC" initials="C" lastIdx="0" clrIdx="34"/>
  <p:cmAuthor id="36" name="NFJD" initials="N" lastIdx="0" clrIdx="35"/>
  <p:cmAuthor id="37" name="cmcc" initials="c" lastIdx="0" clrIdx="36"/>
  <p:cmAuthor id="38" name="yubaoquan" initials="y" lastIdx="0" clrIdx="37"/>
  <p:cmAuthor id="39" name="Tao, Sherry Sitong" initials="TSS" lastIdx="0" clrIdx="38"/>
  <p:cmAuthor id="40" name="张金龙" initials="张" lastIdx="0" clrIdx="39"/>
  <p:cmAuthor id="41" name="hj" initials="h" lastIdx="0" clrIdx="40"/>
  <p:cmAuthor id="42" name="IKKI" initials="I" lastIdx="0" clrIdx="41"/>
  <p:cmAuthor id="43" name="未知用户1" initials="未知用户1" lastIdx="0" clrIdx="42"/>
  <p:cmAuthor id="44" name="曾阿婷" initials="flora" lastIdx="0" clrIdx="43"/>
  <p:cmAuthor id="45" name="未知用户3" initials="未知用户3" lastIdx="0" clrIdx="44"/>
  <p:cmAuthor id="46" name="林 卓" initials="林" lastIdx="0" clrIdx="45"/>
  <p:cmAuthor id="47" name="未知用户5" initials="未知用户5" lastIdx="0" clrIdx="46"/>
  <p:cmAuthor id="48" name="未知用户6" initials="未知用户6" lastIdx="0" clrIdx="47"/>
  <p:cmAuthor id="49" name="赵亚琦" initials="1" lastIdx="0" clrIdx="48"/>
  <p:cmAuthor id="50" name="XMY" initials="X" lastIdx="0" clrIdx="49"/>
  <p:cmAuthor id="51" name="张 鹏举" initials="张" lastIdx="0" clrIdx="50"/>
  <p:cmAuthor id="52" name="xmy" initials="x" lastIdx="0" clrIdx="51"/>
  <p:cmAuthor id="53" name="songlinyan" initials="s" lastIdx="0" clrIdx="52"/>
  <p:cmAuthor id="54" name="wum20" initials="w" lastIdx="0" clrIdx="53"/>
  <p:cmAuthor id="55" name="未知用户10" initials="未知用户10" lastIdx="0" clrIdx="54"/>
  <p:cmAuthor id="56" name="未知用户11" initials="未知用户11" lastIdx="0" clrIdx="55"/>
  <p:cmAuthor id="57" name="武敏" initials="武" lastIdx="0" clrIdx="56"/>
  <p:cmAuthor id="58" name="ZYSR-XY" initials="Z" lastIdx="0" clrIdx="57"/>
  <p:cmAuthor id="59" name="未知用户24" initials="未" lastIdx="0" clrIdx="58"/>
  <p:cmAuthor id="60" name="未知用户25" initials="未" lastIdx="0" clrIdx="59"/>
  <p:cmAuthor id="61" name="song song" initials="s" lastIdx="0" clrIdx="60"/>
  <p:cmAuthor id="62" name="未知用户4" initials="未" lastIdx="0" clrIdx="61"/>
  <p:cmAuthor id="63" name="meixin hu" initials="m" lastIdx="0" clrIdx="62"/>
  <p:cmAuthor id="64" name="ting yue" initials="t" lastIdx="0" clrIdx="63"/>
  <p:cmAuthor id="65" name="zzy" initials="zzy" lastIdx="0" clrIdx="64"/>
  <p:cmAuthor id="66" name="未知用户22" initials="未" lastIdx="0" clrIdx="65"/>
  <p:cmAuthor id="67" name="david bin" initials="d" lastIdx="0" clrIdx="66"/>
  <p:cmAuthor id="68" name="MLOONG" initials="M" lastIdx="0" clrIdx="67"/>
  <p:cmAuthor id="69" name="沈霄雷" initials="沈" lastIdx="0" clrIdx="68"/>
  <p:cmAuthor id="70" name="未知用户17" initials="未" lastIdx="0" clrIdx="69"/>
  <p:cmAuthor id="71" name="张建勇" initials="u" lastIdx="0" clrIdx="70"/>
  <p:cmAuthor id="72" name="朴春善" initials="朴" lastIdx="0" clrIdx="71"/>
  <p:cmAuthor id="73" name="未知用户18" initials="未" lastIdx="0" clrIdx="72"/>
  <p:cmAuthor id="74" name="群智集" initials="群" lastIdx="0" clrIdx="73"/>
  <p:cmAuthor id="75" name="tongtong" initials="t" lastIdx="0" clrIdx="74"/>
  <p:cmAuthor id="76" name="郏 鹏" initials="郏" lastIdx="0" clrIdx="75"/>
  <p:cmAuthor id="77" name="未知用户15" initials="未" lastIdx="0" clrIdx="76"/>
  <p:cmAuthor id="78" name="郏鹏" initials="M" lastIdx="0" clrIdx="77"/>
  <p:cmAuthor id="79" name="未知用户20" initials="未" lastIdx="0" clrIdx="78"/>
  <p:cmAuthor id="80" name="未知用户21" initials="未" lastIdx="0" clrIdx="79"/>
  <p:cmAuthor id="81" name="未知用户13" initials="未" lastIdx="0" clrIdx="80"/>
  <p:cmAuthor id="82" name="Liu Dong" initials="L" lastIdx="0" clrIdx="81"/>
  <p:cmAuthor id="83" name="Zhao Jing" initials="Z" lastIdx="0" clrIdx="82"/>
  <p:cmAuthor id="84" name="未知用户2" initials="未知用户2" lastIdx="0" clrIdx="83"/>
  <p:cmAuthor id="85" name="YANQING BAO" initials="Y" lastIdx="0" clrIdx="84"/>
  <p:cmAuthor id="86" name="Haiyang Wang" initials="H" lastIdx="0" clrIdx="85"/>
  <p:cmAuthor id="87" name="未知用户16" initials="未" lastIdx="0" clrIdx="86"/>
  <p:cmAuthor id="88" name="郝崇" initials="郝" lastIdx="0" clrIdx="87"/>
  <p:cmAuthor id="89" name="祝惠蓉" initials="祝" lastIdx="0" clrIdx="88"/>
  <p:cmAuthor id="90" name="陈俊奕" initials="陈俊奕" lastIdx="0" clrIdx="89"/>
  <p:cmAuthor id="91" name="宋海锐" initials="宋" lastIdx="0" clrIdx="90"/>
  <p:cmAuthor id="92" name="zhoulifang" initials="z" lastIdx="0" clrIdx="91"/>
  <p:cmAuthor id="93" name="xiaver xiaver" initials="xx" lastIdx="0" clrIdx="92"/>
  <p:cmAuthor id="94" name="海荣 李" initials="海荣" lastIdx="0" clrIdx="93"/>
  <p:cmAuthor id="95" name="刘 阳春" initials="刘" lastIdx="0" clrIdx="94"/>
  <p:cmAuthor id="96" name="王 公然" initials="王" lastIdx="0" clrIdx="95"/>
  <p:cmAuthor id="97" name="Zhou Xuanjun" initials="Z" lastIdx="0" clrIdx="96"/>
  <p:cmAuthor id="98" name="但佳" initials="但" lastIdx="0" clrIdx="97"/>
  <p:cmAuthor id="99" name="dingyuemei" initials="d" lastIdx="0" clrIdx="98"/>
  <p:cmAuthor id="100" name="李飞" initials="李" lastIdx="0" clrIdx="99"/>
  <p:cmAuthor id="101" name="三农金融事业部综合员" initials="三" lastIdx="0" clrIdx="100"/>
  <p:cmAuthor id="102" name="唐思源" initials="唐" lastIdx="0" clrIdx="101"/>
  <p:cmAuthor id="103" name="何 静" initials="何" lastIdx="0" clrIdx="102"/>
  <p:cmAuthor id="104" name="ts" initials="t" lastIdx="0" clrIdx="103"/>
  <p:cmAuthor id="105" name="1 mac" initials="1" lastIdx="0" clrIdx="104"/>
  <p:cmAuthor id="106" name="Yuan Hu" initials="Y" lastIdx="0" clrIdx="105"/>
  <p:cmAuthor id="107" name="Jinyi" initials="J" lastIdx="0" clrIdx="106"/>
  <p:cmAuthor id="108" name="江涛 李" initials="江" lastIdx="0" clrIdx="107"/>
  <p:cmAuthor id="109" name="李威" initials="李" lastIdx="0" clrIdx="108"/>
  <p:cmAuthor id="110" name="范作霖" initials="范" lastIdx="0" clrIdx="109"/>
  <p:cmAuthor id="111" name="李百秋" initials="李" lastIdx="0" clrIdx="110"/>
  <p:cmAuthor id="112" name="张立鑫" initials="张" lastIdx="0" clrIdx="111"/>
  <p:cmAuthor id="113" name="李佳" initials="李" lastIdx="0" clrIdx="112"/>
  <p:cmAuthor id="114" name="diana.cheng" initials="d" lastIdx="0" clrIdx="113"/>
  <p:cmAuthor id="115" name="黄欣悦" initials="黄" lastIdx="0" clrIdx="114"/>
  <p:cmAuthor id="116" name="Zhou, Jane Ye" initials="Z" lastIdx="0" clrIdx="115"/>
  <p:cmAuthor id="117" name="Ma, Jun A." initials="M" lastIdx="0" clrIdx="116"/>
  <p:cmAuthor id="118" name="Doris Tan" initials="D" lastIdx="0" clrIdx="117"/>
  <p:cmAuthor id="119" name="Joy HL Sang" initials="J" lastIdx="0" clrIdx="118"/>
  <p:cmAuthor id="120" name="毛香勤" initials="毛" lastIdx="0" clrIdx="119"/>
  <p:cmAuthor id="121" name="dadi" initials="d" lastIdx="0" clrIdx="120"/>
  <p:cmAuthor id="122" name="郑廷东" initials="郑" lastIdx="0" clrIdx="121"/>
  <p:cmAuthor id="123" name="刘百灵" initials="刘" lastIdx="0" clrIdx="122"/>
  <p:cmAuthor id="124" name="杨彦伟" initials="杨" lastIdx="0" clrIdx="123"/>
  <p:cmAuthor id="125" name="徐光宇" initials="徐" lastIdx="0" clrIdx="124"/>
  <p:cmAuthor id="126" name="mac" initials="m" lastIdx="0" clrIdx="125"/>
  <p:cmAuthor id="127" name="刘豹" initials="刘" lastIdx="0" clrIdx="126"/>
  <p:cmAuthor id="128" name="张艳芳" initials="张" lastIdx="0" clrIdx="127"/>
  <p:cmAuthor id="129" name="王志刚" initials="王" lastIdx="0" clrIdx="128"/>
  <p:cmAuthor id="130" name="孙大威" initials="孙" lastIdx="0" clrIdx="129"/>
  <p:cmAuthor id="131" name="徐杰" initials="徐" lastIdx="0" clrIdx="130"/>
  <p:cmAuthor id="132" name="席美娟" initials="席" lastIdx="0" clrIdx="131"/>
  <p:cmAuthor id="133" name="陈艳" initials="陈" lastIdx="0" clrIdx="132"/>
  <p:cmAuthor id="134" name="王景红" initials="王" lastIdx="0" clrIdx="133"/>
  <p:cmAuthor id="135" name="MC SYSTEM" initials="M" lastIdx="0" clrIdx="134"/>
  <p:cmAuthor id="136" name="spring_ren" initials="s" lastIdx="0" clrIdx="135"/>
  <p:cmAuthor id="137" name="李璐---寿险总公司营销管理部" initials="李" lastIdx="0" clrIdx="136"/>
  <p:cmAuthor id="138" name="xuqing" initials="x" lastIdx="0" clrIdx="137"/>
  <p:cmAuthor id="139" name="王顶" initials="王" lastIdx="0" clrIdx="138"/>
  <p:cmAuthor id="140" name="惠莲" initials="惠" lastIdx="0" clrIdx="139"/>
  <p:cmAuthor id="141" name="邢辰凤" initials="邢" lastIdx="0" clrIdx="140"/>
  <p:cmAuthor id="142" name="liang ma" initials="l" lastIdx="0" clrIdx="141"/>
  <p:cmAuthor id="143" name="高永刚" initials="高" lastIdx="0" clrIdx="142"/>
  <p:cmAuthor id="144" name="未知用户46" initials="未" lastIdx="0" clrIdx="143"/>
  <p:cmAuthor id="145" name="未知用户47" initials="未" lastIdx="0" clrIdx="144"/>
  <p:cmAuthor id="146" name="未知用户42" initials="未" lastIdx="0" clrIdx="145"/>
  <p:cmAuthor id="147" name="未知用户43" initials="未" lastIdx="0" clrIdx="146"/>
  <p:cmAuthor id="148" name="未知用户48" initials="未" lastIdx="0" clrIdx="147"/>
  <p:cmAuthor id="149" name="未知用户49" initials="未" lastIdx="0" clrIdx="148"/>
  <p:cmAuthor id="150" name="未知用户50" initials="未" lastIdx="0" clrIdx="149"/>
  <p:cmAuthor id="151" name="未知用户51" initials="未" lastIdx="0" clrIdx="150"/>
  <p:cmAuthor id="152" name="未知用户52" initials="未" lastIdx="0" clrIdx="151"/>
  <p:cmAuthor id="153" name="未知用户53" initials="未" lastIdx="0" clrIdx="152"/>
  <p:cmAuthor id="154" name="未知用户54" initials="未" lastIdx="0" clrIdx="153"/>
  <p:cmAuthor id="155" name="未知用户55" initials="未" lastIdx="0" clrIdx="154"/>
  <p:cmAuthor id="156" name="未知用户56" initials="未" lastIdx="0" clrIdx="155"/>
  <p:cmAuthor id="157" name="未知用户57" initials="未" lastIdx="0" clrIdx="156"/>
  <p:cmAuthor id="158" name="未知用户58" initials="未" lastIdx="0" clrIdx="157"/>
  <p:cmAuthor id="159" name="未知用户59" initials="未" lastIdx="0" clrIdx="158"/>
  <p:cmAuthor id="160" name="光启" initials="光" lastIdx="0" clrIdx="159"/>
  <p:cmAuthor id="161" name="侯雪飞" initials="侯" lastIdx="0" clrIdx="160"/>
  <p:cmAuthor id="162" name="太海峰" initials="太" lastIdx="0" clrIdx="161"/>
  <p:cmAuthor id="163" name="不明使用者57" initials="" lastIdx="0" clrIdx="162"/>
  <p:cmAuthor id="164" name="TaiKang" initials="T" lastIdx="0" clrIdx="163"/>
  <p:cmAuthor id="165" name="njlife" initials="n" lastIdx="0" clrIdx="164"/>
  <p:cmAuthor id="166" name="linyd" initials="" lastIdx="0" clrIdx="165"/>
  <p:cmAuthor id="167" name="未知用户12" initials="未" lastIdx="0" clrIdx="166"/>
  <p:cmAuthor id="168" name="未知的使用者31" initials="" lastIdx="0" clrIdx="167"/>
  <p:cmAuthor id="169" name="薛蒙" initials="xm" lastIdx="0" clrIdx="168"/>
  <p:cmAuthor id="170" name="37094" initials="3" lastIdx="0" clrIdx="169"/>
  <p:cmAuthor id="171" name="未知用户27" initials="未" lastIdx="0" clrIdx="170"/>
  <p:cmAuthor id="172" name="mm" initials="" lastIdx="0" clrIdx="171"/>
  <p:cmAuthor id="173" name="朱晓瑜" initials="" lastIdx="0" clrIdx="172"/>
  <p:cmAuthor id="174" name="不明使用者20" initials="" lastIdx="0" clrIdx="173"/>
  <p:cmAuthor id="175" name="shye_EbMrZnMJ" initials="authorId_858303361" lastIdx="0" clrIdx="174"/>
  <p:cmAuthor id="176" name="未知用户82" initials="" lastIdx="0" clrIdx="175"/>
  <p:cmAuthor id="177" name="朱朱朱_EfIvmAF7" initials="authorId_236067973" lastIdx="0" clrIdx="176"/>
  <p:cmAuthor id="178" name="未知的使用者7" initials="" lastIdx="0" clrIdx="177"/>
  <p:cmAuthor id="179" name="庞亦龙" initials="庞亦龙" lastIdx="0" clrIdx="178"/>
  <p:cmAuthor id="180" name="未知的使用者55" initials="" lastIdx="0" clrIdx="179"/>
  <p:cmAuthor id="181" name="未知的使用者111" initials="" lastIdx="0" clrIdx="180"/>
  <p:cmAuthor id="182" name="未知的使用者50" initials="" lastIdx="0" clrIdx="181"/>
  <p:cmAuthor id="183" name="未知的使用者11" initials="" lastIdx="0" clrIdx="182"/>
  <p:cmAuthor id="184" name="小延魔法师" initials="小" lastIdx="0" clrIdx="183"/>
  <p:cmAuthor id="185" name="未知用户106" initials="未" lastIdx="0" clrIdx="184"/>
  <p:cmAuthor id="186" name="徐 正国" initials="徐" lastIdx="0" clrIdx="185"/>
  <p:cmAuthor id="187" name="未知用户116" initials="" lastIdx="0" clrIdx="186"/>
  <p:cmAuthor id="188" name="CMCC" initials="C" lastIdx="0" clrIdx="187"/>
  <p:cmAuthor id="189" name="齐登宝" initials="齐" lastIdx="0" clrIdx="188"/>
  <p:cmAuthor id="190" name="未知的使用者69" initials="" lastIdx="0" clrIdx="189"/>
  <p:cmAuthor id="191" name="未知的使用者112" initials="" lastIdx="0" clrIdx="190"/>
  <p:cmAuthor id="192" name="Kevin Hu" initials="" lastIdx="0" clrIdx="191"/>
  <p:cmAuthor id="193" name="未知的使用者38" initials="" lastIdx="0" clrIdx="192"/>
  <p:cmAuthor id="194" name="唐可欣" initials="" lastIdx="0" clrIdx="193"/>
  <p:cmAuthor id="195" name="未知的使用者8" initials="" lastIdx="0" clrIdx="194"/>
  <p:cmAuthor id="196" name="不明使用者56" initials="" lastIdx="0" clrIdx="195"/>
  <p:cmAuthor id="197" name="P00035_jeremy" initials="" lastIdx="0" clrIdx="196"/>
  <p:cmAuthor id="198" name="Unknown User7" initials="" lastIdx="0" clrIdx="197"/>
  <p:cmAuthor id="199" name="muzi wei" initials="" lastIdx="0" clrIdx="198"/>
  <p:cmAuthor id="200" name="未知的使用者41" initials="" lastIdx="0" clrIdx="199"/>
  <p:cmAuthor id="201" name="未知的使用者13" initials="" lastIdx="0" clrIdx="200"/>
  <p:cmAuthor id="202" name="djj" initials="" lastIdx="0" clrIdx="201"/>
  <p:cmAuthor id="203" name="未知用户117" initials="" lastIdx="0" clrIdx="202"/>
  <p:cmAuthor id="204" name="不明使用者21" initials="" lastIdx="0" clrIdx="203"/>
  <p:cmAuthor id="205" name="YUMINGNJ" initials="" lastIdx="0" clrIdx="204"/>
  <p:cmAuthor id="206" name="未知的使用者52" initials="" lastIdx="0" clrIdx="205"/>
  <p:cmAuthor id="207" name="未知用户109" initials="" lastIdx="0" clrIdx="206"/>
  <p:cmAuthor id="208" name="Unknown User117" initials="U" lastIdx="0" clrIdx="207"/>
  <p:cmAuthor id="209" name="thomas" initials="" lastIdx="0" clrIdx="208"/>
  <p:cmAuthor id="210" name="未知的使用者3" initials="" lastIdx="0" clrIdx="209"/>
  <p:cmAuthor id="211" name="Unknown User65" initials="U" lastIdx="0" clrIdx="210"/>
  <p:cmAuthor id="212" name="未知用户98" initials="" lastIdx="0" clrIdx="211"/>
  <p:cmAuthor id="213" name="未知用户83" initials="" lastIdx="0" clrIdx="212"/>
  <p:cmAuthor id="214" name="未知用户61" initials="" lastIdx="0" clrIdx="213"/>
  <p:cmAuthor id="215" name="張秀娟" initials="" lastIdx="0" clrIdx="214"/>
  <p:cmAuthor id="216" name="Jason Wang" initials="" lastIdx="0" clrIdx="215"/>
  <p:cmAuthor id="217" name="不明使用者18" initials="" lastIdx="0" clrIdx="216"/>
  <p:cmAuthor id="218" name="未知的使用者72" initials="" lastIdx="0" clrIdx="217"/>
  <p:cmAuthor id="219" name="未知的使用者48" initials="" lastIdx="0" clrIdx="218"/>
  <p:cmAuthor id="220" name="未知的使用者104" initials="" lastIdx="0" clrIdx="219"/>
  <p:cmAuthor id="221" name="未知用户60" initials="" lastIdx="0" clrIdx="220"/>
  <p:cmAuthor id="222" name="未知的使用者39" initials="未" lastIdx="0" clrIdx="221"/>
  <p:cmAuthor id="223" name="Shawna Strickland" initials="" lastIdx="0" clrIdx="222"/>
  <p:cmAuthor id="224" name="未知的使用者36" initials="" lastIdx="0" clrIdx="223"/>
  <p:cmAuthor id="225" name="Daniel Wuu" initials="" lastIdx="0" clrIdx="224"/>
  <p:cmAuthor id="226" name="未知的使用者14" initials="" lastIdx="0" clrIdx="225"/>
  <p:cmAuthor id="227" name="仇怿俊" initials="仇" lastIdx="0" clrIdx="226"/>
  <p:cmAuthor id="228" name="Xiaosu Wang" initials="XW" lastIdx="0" clrIdx="227"/>
  <p:cmAuthor id="229" name="dengwanting" initials="d" lastIdx="0" clrIdx="228"/>
  <p:cmAuthor id="230" name="Ashley Eberenz" initials="" lastIdx="0" clrIdx="229"/>
  <p:cmAuthor id="231" name="mouse zz" initials="mz" lastIdx="0" clrIdx="230"/>
  <p:cmAuthor id="232" name="不明使用者19" initials="" lastIdx="0" clrIdx="231"/>
  <p:cmAuthor id="233" name="qiantong" initials="" lastIdx="0" clrIdx="232"/>
  <p:cmAuthor id="234" name="未知的使用者74" initials="" lastIdx="0" clrIdx="233"/>
  <p:cmAuthor id="235" name="未知的使用者23" initials="" lastIdx="0" clrIdx="234"/>
  <p:cmAuthor id="236" name="未知的使用者1" initials="" lastIdx="0" clrIdx="235"/>
  <p:cmAuthor id="237" name="116304" initials="" lastIdx="0" clrIdx="236"/>
  <p:cmAuthor id="238" name="未知用户31" initials="未" lastIdx="0" clrIdx="237"/>
  <p:cmAuthor id="239" name="R affer" initials="" lastIdx="0" clrIdx="238"/>
  <p:cmAuthor id="240" name="qihua-DCMS" initials="" lastIdx="0" clrIdx="239"/>
  <p:cmAuthor id="241" name="未知的使用者95" initials="" lastIdx="0" clrIdx="240"/>
  <p:cmAuthor id="242" name="未知的使用者32" initials="" lastIdx="0" clrIdx="241"/>
  <p:cmAuthor id="243" name="未知的使用者49" initials="" lastIdx="0" clrIdx="242"/>
  <p:cmAuthor id="244" name="Unknown User26" initials="U" lastIdx="0" clrIdx="243"/>
  <p:cmAuthor id="245" name="yuexuejun" initials="" lastIdx="0" clrIdx="244"/>
  <p:cmAuthor id="246" name="未知的使用者71" initials="" lastIdx="0" clrIdx="245"/>
  <p:cmAuthor id="247" name="未知的使用者105" initials="" lastIdx="0" clrIdx="246"/>
  <p:cmAuthor id="248" name="Unknown User70" initials="" lastIdx="0" clrIdx="247"/>
  <p:cmAuthor id="249" name="clinchen" initials="" lastIdx="0" clrIdx="248"/>
  <p:cmAuthor id="250" name="hanjuncompany" initials="" lastIdx="0" clrIdx="249"/>
  <p:cmAuthor id="251" name="kathy chen" initials="" lastIdx="0" clrIdx="250"/>
  <p:cmAuthor id="252" name="黄晓平" initials="黄" lastIdx="0" clrIdx="251"/>
  <p:cmAuthor id="253" name="未知的使用者63" initials="" lastIdx="0" clrIdx="252"/>
  <p:cmAuthor id="254" name="乐" initials="乐" lastIdx="0" clrIdx="253"/>
  <p:cmAuthor id="255" name="未知的使用者64" initials="" lastIdx="0" clrIdx="254"/>
  <p:cmAuthor id="256" name="haha" initials="h" lastIdx="0" clrIdx="255"/>
  <p:cmAuthor id="257" name="未知的使用者47" initials="" lastIdx="0" clrIdx="256"/>
  <p:cmAuthor id="258" name="未知的使用者60" initials="" lastIdx="0" clrIdx="257"/>
  <p:cmAuthor id="259" name="未知的使用者59" initials="" lastIdx="0" clrIdx="258"/>
  <p:cmAuthor id="260" name="未知的使用者54" initials="" lastIdx="0" clrIdx="259"/>
  <p:cmAuthor id="261" name="未知的使用者66" initials="" lastIdx="0" clrIdx="260"/>
  <p:cmAuthor id="262" name="未知的使用者65" initials="" lastIdx="0" clrIdx="261"/>
  <p:cmAuthor id="263" name="未知的使用者106" initials="" lastIdx="0" clrIdx="262"/>
  <p:cmAuthor id="264" name="未知的使用者107" initials="" lastIdx="0" clrIdx="263"/>
  <p:cmAuthor id="265" name="未知的使用者108" initials="" lastIdx="0" clrIdx="264"/>
  <p:cmAuthor id="266" name="未知的使用者86" initials="" lastIdx="0" clrIdx="265"/>
  <p:cmAuthor id="267" name="未知的使用者116" initials="" lastIdx="0" clrIdx="266"/>
  <p:cmAuthor id="268" name="未知的使用者44" initials="" lastIdx="0" clrIdx="267"/>
  <p:cmAuthor id="269" name="未知的使用者37" initials="" lastIdx="0" clrIdx="268"/>
  <p:cmAuthor id="270" name="未知的使用者126" initials="" lastIdx="0" clrIdx="269"/>
  <p:cmAuthor id="271" name="未知的使用者127" initials="" lastIdx="0" clrIdx="270"/>
  <p:cmAuthor id="272" name="未知的使用者128" initials="" lastIdx="0" clrIdx="271"/>
  <p:cmAuthor id="273" name="未知的使用者124" initials="" lastIdx="0" clrIdx="272"/>
  <p:cmAuthor id="274" name="未知的使用者125" initials="" lastIdx="0" clrIdx="273"/>
  <p:cmAuthor id="275" name="Sara Chen" initials="" lastIdx="0" clrIdx="274"/>
  <p:cmAuthor id="276" name="huang gerrard" initials="" lastIdx="0" clrIdx="275"/>
  <p:cmAuthor id="277" name="未知用户170" initials="" lastIdx="0" clrIdx="276"/>
  <p:cmAuthor id="278" name="未知用户171" initials="" lastIdx="0" clrIdx="277"/>
  <p:cmAuthor id="279" name="未知用户172" initials="" lastIdx="0" clrIdx="278"/>
  <p:cmAuthor id="280" name="未知用户173" initials="" lastIdx="0" clrIdx="279"/>
  <p:cmAuthor id="281" name="未知用户149" initials="" lastIdx="0" clrIdx="280"/>
  <p:cmAuthor id="282" name="未知用户150" initials="" lastIdx="0" clrIdx="281"/>
  <p:cmAuthor id="283" name="未知用户151" initials="" lastIdx="0" clrIdx="282"/>
  <p:cmAuthor id="284" name="未知用户152" initials="" lastIdx="0" clrIdx="283"/>
  <p:cmAuthor id="285" name="未知用户153" initials="" lastIdx="0" clrIdx="284"/>
  <p:cmAuthor id="286" name="未知用户154" initials="" lastIdx="0" clrIdx="285"/>
  <p:cmAuthor id="287" name="未知用户155" initials="" lastIdx="0" clrIdx="286"/>
  <p:cmAuthor id="288" name="未知用户44" initials="" lastIdx="0" clrIdx="287"/>
  <p:cmAuthor id="289" name="未知用户45" initials="" lastIdx="0" clrIdx="288"/>
  <p:cmAuthor id="290" name="未知用户156" initials="" lastIdx="0" clrIdx="289"/>
  <p:cmAuthor id="291" name="未知用户64" initials="" lastIdx="0" clrIdx="290"/>
  <p:cmAuthor id="292" name="未知用户65" initials="" lastIdx="0" clrIdx="291"/>
  <p:cmAuthor id="293" name="未知用户68" initials="" lastIdx="0" clrIdx="292"/>
  <p:cmAuthor id="294" name="未知用户69" initials="" lastIdx="0" clrIdx="293"/>
  <p:cmAuthor id="295" name="未知用户70" initials="" lastIdx="0" clrIdx="294"/>
  <p:cmAuthor id="296" name="未知用户71" initials="" lastIdx="0" clrIdx="295"/>
  <p:cmAuthor id="297" name="未知用户72" initials="" lastIdx="0" clrIdx="296"/>
  <p:cmAuthor id="298" name="未知用户73" initials="" lastIdx="0" clrIdx="297"/>
  <p:cmAuthor id="299" name="MA15" initials="" lastIdx="0" clrIdx="298"/>
  <p:cmAuthor id="300" name="jialuo" initials="j" lastIdx="0" clrIdx="299"/>
  <p:cmAuthor id="301" name="未知用户96" initials="" lastIdx="0" clrIdx="300"/>
  <p:cmAuthor id="302" name="未知用户97" initials="" lastIdx="0" clrIdx="301"/>
  <p:cmAuthor id="303" name="未知用户100" initials="" lastIdx="0" clrIdx="302"/>
  <p:cmAuthor id="304" name="未知用户101" initials="" lastIdx="0" clrIdx="303"/>
  <p:cmAuthor id="305" name="韩雨" initials="韩" lastIdx="0" clrIdx="304"/>
  <p:cmAuthor id="306" name="未知用户29" initials="" lastIdx="0" clrIdx="305"/>
  <p:cmAuthor id="307" name="未知用户32" initials="" lastIdx="0" clrIdx="306"/>
  <p:cmAuthor id="308" name="未知用户33" initials="" lastIdx="0" clrIdx="307"/>
  <p:cmAuthor id="309" name="未知的使用者109" initials="" lastIdx="0" clrIdx="308"/>
  <p:cmAuthor id="310" name="未知的使用者122" initials="" lastIdx="0" clrIdx="309"/>
  <p:cmAuthor id="311" name="未知的使用者123" initials="" lastIdx="0" clrIdx="310"/>
  <p:cmAuthor id="312" name="wmg" initials="w" lastIdx="0" clrIdx="311"/>
  <p:cmAuthor id="313" name="86133" initials="8" lastIdx="0" clrIdx="312"/>
  <p:cmAuthor id="314" name="kechuying" initials="k" lastIdx="0" clrIdx="313"/>
  <p:cmAuthor id="315" name="WPS_1679281038" initials="W" lastIdx="0" clrIdx="314"/>
  <p:cmAuthor id="316" name="子锋 林" initials="子锋" lastIdx="0" clrIdx="315"/>
  <p:cmAuthor id="317" name="123" initials="1" lastIdx="0" clrIdx="31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/Users/CCRC/Desktop/打发打发.png打发打发"/>
          <p:cNvPicPr>
            <a:picLocks noChangeAspect="1"/>
          </p:cNvPicPr>
          <p:nvPr userDrawn="1"/>
        </p:nvPicPr>
        <p:blipFill>
          <a:blip r:embed="rId2"/>
          <a:srcRect t="4" b="4"/>
          <a:stretch>
            <a:fillRect/>
          </a:stretch>
        </p:blipFill>
        <p:spPr>
          <a:xfrm>
            <a:off x="-528" y="-296"/>
            <a:ext cx="12193057" cy="685859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1" t="53519" r="15900"/>
          <a:stretch>
            <a:fillRect/>
          </a:stretch>
        </p:blipFill>
        <p:spPr>
          <a:xfrm>
            <a:off x="2585017" y="4083760"/>
            <a:ext cx="7048500" cy="2774240"/>
          </a:xfrm>
          <a:custGeom>
            <a:avLst/>
            <a:gdLst>
              <a:gd name="connsiteX0" fmla="*/ 0 w 8098972"/>
              <a:gd name="connsiteY0" fmla="*/ 0 h 3187700"/>
              <a:gd name="connsiteX1" fmla="*/ 8098972 w 8098972"/>
              <a:gd name="connsiteY1" fmla="*/ 0 h 3187700"/>
              <a:gd name="connsiteX2" fmla="*/ 8098972 w 8098972"/>
              <a:gd name="connsiteY2" fmla="*/ 3187700 h 3187700"/>
              <a:gd name="connsiteX3" fmla="*/ 0 w 8098972"/>
              <a:gd name="connsiteY3" fmla="*/ 3187700 h 3187700"/>
              <a:gd name="connsiteX4" fmla="*/ 0 w 8098972"/>
              <a:gd name="connsiteY4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8972" h="3187700">
                <a:moveTo>
                  <a:pt x="0" y="0"/>
                </a:moveTo>
                <a:lnTo>
                  <a:pt x="8098972" y="0"/>
                </a:lnTo>
                <a:lnTo>
                  <a:pt x="8098972" y="3187700"/>
                </a:lnTo>
                <a:lnTo>
                  <a:pt x="0" y="31877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4"/>
          <a:srcRect r="85501"/>
          <a:stretch>
            <a:fillRect/>
          </a:stretch>
        </p:blipFill>
        <p:spPr>
          <a:xfrm>
            <a:off x="-1251" y="2457777"/>
            <a:ext cx="2439651" cy="440169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/>
          <a:srcRect l="85501"/>
          <a:stretch>
            <a:fillRect/>
          </a:stretch>
        </p:blipFill>
        <p:spPr>
          <a:xfrm>
            <a:off x="9780134" y="2432643"/>
            <a:ext cx="2439652" cy="44016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CCRC/Desktop/打发打发.png打发打发"/>
          <p:cNvPicPr>
            <a:picLocks noChangeAspect="1"/>
          </p:cNvPicPr>
          <p:nvPr userDrawn="1"/>
        </p:nvPicPr>
        <p:blipFill>
          <a:blip r:embed="rId2"/>
          <a:srcRect t="4" b="4"/>
          <a:stretch>
            <a:fillRect/>
          </a:stretch>
        </p:blipFill>
        <p:spPr>
          <a:xfrm>
            <a:off x="-528" y="-296"/>
            <a:ext cx="12193057" cy="685859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19"/>
          <a:stretch>
            <a:fillRect/>
          </a:stretch>
        </p:blipFill>
        <p:spPr>
          <a:xfrm>
            <a:off x="0" y="3670300"/>
            <a:ext cx="12192000" cy="3187700"/>
          </a:xfrm>
          <a:custGeom>
            <a:avLst/>
            <a:gdLst>
              <a:gd name="connsiteX0" fmla="*/ 10195124 w 12192000"/>
              <a:gd name="connsiteY0" fmla="*/ 0 h 3187700"/>
              <a:gd name="connsiteX1" fmla="*/ 12192000 w 12192000"/>
              <a:gd name="connsiteY1" fmla="*/ 0 h 3187700"/>
              <a:gd name="connsiteX2" fmla="*/ 12192000 w 12192000"/>
              <a:gd name="connsiteY2" fmla="*/ 3187700 h 3187700"/>
              <a:gd name="connsiteX3" fmla="*/ 10195124 w 12192000"/>
              <a:gd name="connsiteY3" fmla="*/ 3187700 h 3187700"/>
              <a:gd name="connsiteX4" fmla="*/ 0 w 12192000"/>
              <a:gd name="connsiteY4" fmla="*/ 0 h 3187700"/>
              <a:gd name="connsiteX5" fmla="*/ 2873829 w 12192000"/>
              <a:gd name="connsiteY5" fmla="*/ 0 h 3187700"/>
              <a:gd name="connsiteX6" fmla="*/ 2873829 w 12192000"/>
              <a:gd name="connsiteY6" fmla="*/ 3187700 h 3187700"/>
              <a:gd name="connsiteX7" fmla="*/ 0 w 12192000"/>
              <a:gd name="connsiteY7" fmla="*/ 318770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187700">
                <a:moveTo>
                  <a:pt x="10195124" y="0"/>
                </a:moveTo>
                <a:lnTo>
                  <a:pt x="12192000" y="0"/>
                </a:lnTo>
                <a:lnTo>
                  <a:pt x="12192000" y="3187700"/>
                </a:lnTo>
                <a:lnTo>
                  <a:pt x="10195124" y="3187700"/>
                </a:lnTo>
                <a:close/>
                <a:moveTo>
                  <a:pt x="0" y="0"/>
                </a:moveTo>
                <a:lnTo>
                  <a:pt x="2873829" y="0"/>
                </a:lnTo>
                <a:lnTo>
                  <a:pt x="2873829" y="3187700"/>
                </a:lnTo>
                <a:lnTo>
                  <a:pt x="0" y="3187700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1" t="53519" r="15900"/>
          <a:stretch>
            <a:fillRect/>
          </a:stretch>
        </p:blipFill>
        <p:spPr>
          <a:xfrm>
            <a:off x="3916124" y="5118367"/>
            <a:ext cx="4359752" cy="1715969"/>
          </a:xfrm>
          <a:custGeom>
            <a:avLst/>
            <a:gdLst>
              <a:gd name="connsiteX0" fmla="*/ 0 w 8098972"/>
              <a:gd name="connsiteY0" fmla="*/ 0 h 3187700"/>
              <a:gd name="connsiteX1" fmla="*/ 8098972 w 8098972"/>
              <a:gd name="connsiteY1" fmla="*/ 0 h 3187700"/>
              <a:gd name="connsiteX2" fmla="*/ 8098972 w 8098972"/>
              <a:gd name="connsiteY2" fmla="*/ 3187700 h 3187700"/>
              <a:gd name="connsiteX3" fmla="*/ 0 w 8098972"/>
              <a:gd name="connsiteY3" fmla="*/ 3187700 h 3187700"/>
              <a:gd name="connsiteX4" fmla="*/ 0 w 8098972"/>
              <a:gd name="connsiteY4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8972" h="3187700">
                <a:moveTo>
                  <a:pt x="0" y="0"/>
                </a:moveTo>
                <a:lnTo>
                  <a:pt x="8098972" y="0"/>
                </a:lnTo>
                <a:lnTo>
                  <a:pt x="8098972" y="3187700"/>
                </a:lnTo>
                <a:lnTo>
                  <a:pt x="0" y="3187700"/>
                </a:lnTo>
                <a:lnTo>
                  <a:pt x="0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E54B26-A713-42B4-B0D9-667DF6B514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47170-B77A-42DB-9101-E6B3B69D3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8.xml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image" Target="../media/image12.svg"/><Relationship Id="rId2" Type="http://schemas.openxmlformats.org/officeDocument/2006/relationships/tags" Target="../tags/tag2.xml"/><Relationship Id="rId19" Type="http://schemas.openxmlformats.org/officeDocument/2006/relationships/image" Target="../media/image11.png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10.svg"/><Relationship Id="rId15" Type="http://schemas.openxmlformats.org/officeDocument/2006/relationships/image" Target="../media/image9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8.sv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tags" Target="../tags/tag19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8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image" Target="../media/image18.svg"/><Relationship Id="rId20" Type="http://schemas.openxmlformats.org/officeDocument/2006/relationships/image" Target="../media/image17.png"/><Relationship Id="rId2" Type="http://schemas.openxmlformats.org/officeDocument/2006/relationships/tags" Target="../tags/tag18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7" Type="http://schemas.openxmlformats.org/officeDocument/2006/relationships/notesSlide" Target="../notesSlides/notesSlide5.xml"/><Relationship Id="rId36" Type="http://schemas.openxmlformats.org/officeDocument/2006/relationships/slideLayout" Target="../slideLayouts/slideLayout18.xml"/><Relationship Id="rId35" Type="http://schemas.openxmlformats.org/officeDocument/2006/relationships/tags" Target="../tags/tag59.xml"/><Relationship Id="rId34" Type="http://schemas.openxmlformats.org/officeDocument/2006/relationships/tags" Target="../tags/tag58.xml"/><Relationship Id="rId33" Type="http://schemas.openxmlformats.org/officeDocument/2006/relationships/image" Target="../media/image34.svg"/><Relationship Id="rId32" Type="http://schemas.openxmlformats.org/officeDocument/2006/relationships/image" Target="../media/image33.png"/><Relationship Id="rId31" Type="http://schemas.openxmlformats.org/officeDocument/2006/relationships/tags" Target="../tags/tag57.xml"/><Relationship Id="rId30" Type="http://schemas.openxmlformats.org/officeDocument/2006/relationships/tags" Target="../tags/tag56.xml"/><Relationship Id="rId3" Type="http://schemas.openxmlformats.org/officeDocument/2006/relationships/tags" Target="../tags/tag37.xml"/><Relationship Id="rId29" Type="http://schemas.openxmlformats.org/officeDocument/2006/relationships/tags" Target="../tags/tag55.xml"/><Relationship Id="rId28" Type="http://schemas.openxmlformats.org/officeDocument/2006/relationships/tags" Target="../tags/tag54.xml"/><Relationship Id="rId27" Type="http://schemas.openxmlformats.org/officeDocument/2006/relationships/tags" Target="../tags/tag53.xml"/><Relationship Id="rId26" Type="http://schemas.openxmlformats.org/officeDocument/2006/relationships/image" Target="../media/image32.svg"/><Relationship Id="rId25" Type="http://schemas.openxmlformats.org/officeDocument/2006/relationships/image" Target="../media/image31.png"/><Relationship Id="rId24" Type="http://schemas.openxmlformats.org/officeDocument/2006/relationships/tags" Target="../tags/tag52.xml"/><Relationship Id="rId23" Type="http://schemas.openxmlformats.org/officeDocument/2006/relationships/tags" Target="../tags/tag51.xml"/><Relationship Id="rId22" Type="http://schemas.openxmlformats.org/officeDocument/2006/relationships/tags" Target="../tags/tag50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tags" Target="../tags/tag36.xml"/><Relationship Id="rId19" Type="http://schemas.openxmlformats.org/officeDocument/2006/relationships/image" Target="../media/image30.svg"/><Relationship Id="rId18" Type="http://schemas.openxmlformats.org/officeDocument/2006/relationships/image" Target="../media/image29.png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image" Target="../media/image28.svg"/><Relationship Id="rId11" Type="http://schemas.openxmlformats.org/officeDocument/2006/relationships/image" Target="../media/image27.png"/><Relationship Id="rId10" Type="http://schemas.openxmlformats.org/officeDocument/2006/relationships/tags" Target="../tags/tag42.xml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image" Target="../media/image35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36.png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6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image" Target="../media/image35.png"/><Relationship Id="rId2" Type="http://schemas.openxmlformats.org/officeDocument/2006/relationships/tags" Target="../tags/tag70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image" Target="../media/image50.svg"/><Relationship Id="rId11" Type="http://schemas.openxmlformats.org/officeDocument/2006/relationships/image" Target="../media/image49.png"/><Relationship Id="rId10" Type="http://schemas.openxmlformats.org/officeDocument/2006/relationships/tags" Target="../tags/tag90.xml"/><Relationship Id="rId1" Type="http://schemas.openxmlformats.org/officeDocument/2006/relationships/tags" Target="../tags/tag8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tags" Target="../tags/tag95.xml"/><Relationship Id="rId26" Type="http://schemas.openxmlformats.org/officeDocument/2006/relationships/notesSlide" Target="../notesSlides/notesSlide12.xml"/><Relationship Id="rId25" Type="http://schemas.openxmlformats.org/officeDocument/2006/relationships/slideLayout" Target="../slideLayouts/slideLayout18.xml"/><Relationship Id="rId24" Type="http://schemas.openxmlformats.org/officeDocument/2006/relationships/tags" Target="../tags/tag108.xml"/><Relationship Id="rId23" Type="http://schemas.openxmlformats.org/officeDocument/2006/relationships/tags" Target="../tags/tag107.xml"/><Relationship Id="rId22" Type="http://schemas.openxmlformats.org/officeDocument/2006/relationships/image" Target="../media/image58.png"/><Relationship Id="rId21" Type="http://schemas.openxmlformats.org/officeDocument/2006/relationships/tags" Target="../tags/tag106.xml"/><Relationship Id="rId20" Type="http://schemas.openxmlformats.org/officeDocument/2006/relationships/image" Target="../media/image57.jpeg"/><Relationship Id="rId2" Type="http://schemas.openxmlformats.org/officeDocument/2006/relationships/tags" Target="../tags/tag94.xml"/><Relationship Id="rId19" Type="http://schemas.openxmlformats.org/officeDocument/2006/relationships/tags" Target="../tags/tag105.xml"/><Relationship Id="rId18" Type="http://schemas.openxmlformats.org/officeDocument/2006/relationships/image" Target="../media/image56.png"/><Relationship Id="rId17" Type="http://schemas.openxmlformats.org/officeDocument/2006/relationships/tags" Target="../tags/tag104.xml"/><Relationship Id="rId16" Type="http://schemas.openxmlformats.org/officeDocument/2006/relationships/image" Target="../media/image55.png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image" Target="../media/image54.svg"/><Relationship Id="rId11" Type="http://schemas.openxmlformats.org/officeDocument/2006/relationships/image" Target="../media/image53.png"/><Relationship Id="rId10" Type="http://schemas.openxmlformats.org/officeDocument/2006/relationships/tags" Target="../tags/tag100.xml"/><Relationship Id="rId1" Type="http://schemas.openxmlformats.org/officeDocument/2006/relationships/tags" Target="../tags/tag9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50.svg"/><Relationship Id="rId3" Type="http://schemas.openxmlformats.org/officeDocument/2006/relationships/image" Target="../media/image53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7" Type="http://schemas.openxmlformats.org/officeDocument/2006/relationships/notesSlide" Target="../notesSlides/notesSlide14.xml"/><Relationship Id="rId36" Type="http://schemas.openxmlformats.org/officeDocument/2006/relationships/slideLayout" Target="../slideLayouts/slideLayout18.xml"/><Relationship Id="rId35" Type="http://schemas.openxmlformats.org/officeDocument/2006/relationships/tags" Target="../tags/tag133.xml"/><Relationship Id="rId34" Type="http://schemas.openxmlformats.org/officeDocument/2006/relationships/tags" Target="../tags/tag132.xml"/><Relationship Id="rId33" Type="http://schemas.openxmlformats.org/officeDocument/2006/relationships/image" Target="../media/image60.svg"/><Relationship Id="rId32" Type="http://schemas.openxmlformats.org/officeDocument/2006/relationships/image" Target="../media/image71.png"/><Relationship Id="rId31" Type="http://schemas.openxmlformats.org/officeDocument/2006/relationships/tags" Target="../tags/tag131.xml"/><Relationship Id="rId30" Type="http://schemas.openxmlformats.org/officeDocument/2006/relationships/tags" Target="../tags/tag130.xml"/><Relationship Id="rId3" Type="http://schemas.openxmlformats.org/officeDocument/2006/relationships/tags" Target="../tags/tag111.xml"/><Relationship Id="rId29" Type="http://schemas.openxmlformats.org/officeDocument/2006/relationships/tags" Target="../tags/tag129.xml"/><Relationship Id="rId28" Type="http://schemas.openxmlformats.org/officeDocument/2006/relationships/tags" Target="../tags/tag128.xml"/><Relationship Id="rId27" Type="http://schemas.openxmlformats.org/officeDocument/2006/relationships/tags" Target="../tags/tag127.xml"/><Relationship Id="rId26" Type="http://schemas.openxmlformats.org/officeDocument/2006/relationships/image" Target="../media/image70.svg"/><Relationship Id="rId25" Type="http://schemas.openxmlformats.org/officeDocument/2006/relationships/image" Target="../media/image69.png"/><Relationship Id="rId24" Type="http://schemas.openxmlformats.org/officeDocument/2006/relationships/tags" Target="../tags/tag126.xml"/><Relationship Id="rId23" Type="http://schemas.openxmlformats.org/officeDocument/2006/relationships/tags" Target="../tags/tag125.xml"/><Relationship Id="rId22" Type="http://schemas.openxmlformats.org/officeDocument/2006/relationships/tags" Target="../tags/tag124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tags" Target="../tags/tag110.xml"/><Relationship Id="rId19" Type="http://schemas.openxmlformats.org/officeDocument/2006/relationships/image" Target="../media/image68.svg"/><Relationship Id="rId18" Type="http://schemas.openxmlformats.org/officeDocument/2006/relationships/image" Target="../media/image67.png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image" Target="../media/image66.svg"/><Relationship Id="rId11" Type="http://schemas.openxmlformats.org/officeDocument/2006/relationships/image" Target="../media/image65.png"/><Relationship Id="rId10" Type="http://schemas.openxmlformats.org/officeDocument/2006/relationships/tags" Target="../tags/tag116.xml"/><Relationship Id="rId1" Type="http://schemas.openxmlformats.org/officeDocument/2006/relationships/tags" Target="../tags/tag10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svg"/><Relationship Id="rId8" Type="http://schemas.openxmlformats.org/officeDocument/2006/relationships/image" Target="../media/image72.png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3" Type="http://schemas.openxmlformats.org/officeDocument/2006/relationships/notesSlide" Target="../notesSlides/notesSlide15.x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77.svg"/><Relationship Id="rId20" Type="http://schemas.openxmlformats.org/officeDocument/2006/relationships/image" Target="../media/image76.png"/><Relationship Id="rId2" Type="http://schemas.openxmlformats.org/officeDocument/2006/relationships/tags" Target="../tags/tag135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image" Target="../media/image75.svg"/><Relationship Id="rId15" Type="http://schemas.openxmlformats.org/officeDocument/2006/relationships/image" Target="../media/image74.png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79.svg"/><Relationship Id="rId1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4.svg"/><Relationship Id="rId3" Type="http://schemas.openxmlformats.org/officeDocument/2006/relationships/image" Target="../media/image81.png"/><Relationship Id="rId2" Type="http://schemas.openxmlformats.org/officeDocument/2006/relationships/image" Target="../media/image20.svg"/><Relationship Id="rId1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88.svg"/><Relationship Id="rId7" Type="http://schemas.openxmlformats.org/officeDocument/2006/relationships/image" Target="../media/image87.png"/><Relationship Id="rId6" Type="http://schemas.openxmlformats.org/officeDocument/2006/relationships/image" Target="../media/image86.svg"/><Relationship Id="rId5" Type="http://schemas.openxmlformats.org/officeDocument/2006/relationships/image" Target="../media/image5.png"/><Relationship Id="rId4" Type="http://schemas.openxmlformats.org/officeDocument/2006/relationships/image" Target="../media/image85.svg"/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7" Type="http://schemas.openxmlformats.org/officeDocument/2006/relationships/notesSlide" Target="../notesSlides/notesSlide20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tags" Target="../tags/tag14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34.svg"/><Relationship Id="rId3" Type="http://schemas.openxmlformats.org/officeDocument/2006/relationships/image" Target="../media/image91.png"/><Relationship Id="rId2" Type="http://schemas.openxmlformats.org/officeDocument/2006/relationships/image" Target="../media/image90.svg"/><Relationship Id="rId1" Type="http://schemas.openxmlformats.org/officeDocument/2006/relationships/image" Target="../media/image8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97.svg"/><Relationship Id="rId3" Type="http://schemas.openxmlformats.org/officeDocument/2006/relationships/image" Target="../media/image96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image" Target="../media/image101.svg"/><Relationship Id="rId4" Type="http://schemas.openxmlformats.org/officeDocument/2006/relationships/image" Target="../media/image100.png"/><Relationship Id="rId37" Type="http://schemas.openxmlformats.org/officeDocument/2006/relationships/notesSlide" Target="../notesSlides/notesSlide25.xml"/><Relationship Id="rId36" Type="http://schemas.openxmlformats.org/officeDocument/2006/relationships/slideLayout" Target="../slideLayouts/slideLayout18.xml"/><Relationship Id="rId35" Type="http://schemas.openxmlformats.org/officeDocument/2006/relationships/tags" Target="../tags/tag188.xml"/><Relationship Id="rId34" Type="http://schemas.openxmlformats.org/officeDocument/2006/relationships/tags" Target="../tags/tag187.xml"/><Relationship Id="rId33" Type="http://schemas.openxmlformats.org/officeDocument/2006/relationships/image" Target="../media/image108.svg"/><Relationship Id="rId32" Type="http://schemas.openxmlformats.org/officeDocument/2006/relationships/image" Target="../media/image107.png"/><Relationship Id="rId31" Type="http://schemas.openxmlformats.org/officeDocument/2006/relationships/tags" Target="../tags/tag186.xml"/><Relationship Id="rId30" Type="http://schemas.openxmlformats.org/officeDocument/2006/relationships/tags" Target="../tags/tag185.xml"/><Relationship Id="rId3" Type="http://schemas.openxmlformats.org/officeDocument/2006/relationships/tags" Target="../tags/tag166.xml"/><Relationship Id="rId29" Type="http://schemas.openxmlformats.org/officeDocument/2006/relationships/tags" Target="../tags/tag184.xml"/><Relationship Id="rId28" Type="http://schemas.openxmlformats.org/officeDocument/2006/relationships/tags" Target="../tags/tag183.xml"/><Relationship Id="rId27" Type="http://schemas.openxmlformats.org/officeDocument/2006/relationships/tags" Target="../tags/tag182.xml"/><Relationship Id="rId26" Type="http://schemas.openxmlformats.org/officeDocument/2006/relationships/image" Target="../media/image106.svg"/><Relationship Id="rId25" Type="http://schemas.openxmlformats.org/officeDocument/2006/relationships/image" Target="../media/image105.png"/><Relationship Id="rId24" Type="http://schemas.openxmlformats.org/officeDocument/2006/relationships/tags" Target="../tags/tag181.xml"/><Relationship Id="rId23" Type="http://schemas.openxmlformats.org/officeDocument/2006/relationships/tags" Target="../tags/tag180.xml"/><Relationship Id="rId22" Type="http://schemas.openxmlformats.org/officeDocument/2006/relationships/tags" Target="../tags/tag179.xml"/><Relationship Id="rId21" Type="http://schemas.openxmlformats.org/officeDocument/2006/relationships/tags" Target="../tags/tag178.xml"/><Relationship Id="rId20" Type="http://schemas.openxmlformats.org/officeDocument/2006/relationships/tags" Target="../tags/tag177.xml"/><Relationship Id="rId2" Type="http://schemas.openxmlformats.org/officeDocument/2006/relationships/tags" Target="../tags/tag165.xml"/><Relationship Id="rId19" Type="http://schemas.openxmlformats.org/officeDocument/2006/relationships/image" Target="../media/image28.svg"/><Relationship Id="rId18" Type="http://schemas.openxmlformats.org/officeDocument/2006/relationships/image" Target="../media/image104.png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image" Target="../media/image103.svg"/><Relationship Id="rId11" Type="http://schemas.openxmlformats.org/officeDocument/2006/relationships/image" Target="../media/image102.png"/><Relationship Id="rId10" Type="http://schemas.openxmlformats.org/officeDocument/2006/relationships/tags" Target="../tags/tag171.xml"/><Relationship Id="rId1" Type="http://schemas.openxmlformats.org/officeDocument/2006/relationships/tags" Target="../tags/tag164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28.svg"/><Relationship Id="rId5" Type="http://schemas.openxmlformats.org/officeDocument/2006/relationships/image" Target="../media/image104.png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" Type="http://schemas.openxmlformats.org/officeDocument/2006/relationships/image" Target="../media/image103.svg"/><Relationship Id="rId10" Type="http://schemas.openxmlformats.org/officeDocument/2006/relationships/notesSlide" Target="../notesSlides/notesSlide26.xml"/><Relationship Id="rId1" Type="http://schemas.openxmlformats.org/officeDocument/2006/relationships/image" Target="../media/image102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image" Target="../media/image112.svg"/><Relationship Id="rId4" Type="http://schemas.openxmlformats.org/officeDocument/2006/relationships/image" Target="../media/image111.png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4" Type="http://schemas.openxmlformats.org/officeDocument/2006/relationships/notesSlide" Target="../notesSlides/notesSlide27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196.xml"/><Relationship Id="rId11" Type="http://schemas.openxmlformats.org/officeDocument/2006/relationships/image" Target="../media/image114.svg"/><Relationship Id="rId10" Type="http://schemas.openxmlformats.org/officeDocument/2006/relationships/image" Target="../media/image113.png"/><Relationship Id="rId1" Type="http://schemas.openxmlformats.org/officeDocument/2006/relationships/tags" Target="../tags/tag189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18.svg"/><Relationship Id="rId3" Type="http://schemas.openxmlformats.org/officeDocument/2006/relationships/image" Target="../media/image117.png"/><Relationship Id="rId2" Type="http://schemas.openxmlformats.org/officeDocument/2006/relationships/image" Target="../media/image116.svg"/><Relationship Id="rId1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搜索【幻雨工作室】_3"/>
          <p:cNvSpPr/>
          <p:nvPr/>
        </p:nvSpPr>
        <p:spPr>
          <a:xfrm flipH="1" flipV="1">
            <a:off x="9614244" y="3353617"/>
            <a:ext cx="523585" cy="462561"/>
          </a:xfrm>
          <a:custGeom>
            <a:avLst/>
            <a:gdLst/>
            <a:ahLst/>
            <a:cxnLst/>
            <a:rect l="l" t="t" r="r" b="b"/>
            <a:pathLst>
              <a:path w="540000" h="477063">
                <a:moveTo>
                  <a:pt x="0" y="0"/>
                </a:moveTo>
                <a:lnTo>
                  <a:pt x="540000" y="0"/>
                </a:lnTo>
                <a:lnTo>
                  <a:pt x="540000" y="29349"/>
                </a:lnTo>
                <a:lnTo>
                  <a:pt x="29349" y="29349"/>
                </a:lnTo>
                <a:lnTo>
                  <a:pt x="29349" y="477063"/>
                </a:lnTo>
                <a:lnTo>
                  <a:pt x="0" y="47706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14120" y="1465580"/>
            <a:ext cx="9734550" cy="1568450"/>
          </a:xfrm>
          <a:prstGeom prst="rect">
            <a:avLst/>
          </a:prstGeom>
          <a:noFill/>
          <a:effectLst/>
        </p:spPr>
        <p:txBody>
          <a:bodyPr wrap="square" rtlCol="0" anchor="t">
            <a:spAutoFit/>
          </a:bodyPr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en-US" sz="4800" b="1" kern="1200">
                <a:ln>
                  <a:noFill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AI</a:t>
            </a:r>
            <a:r>
              <a:rPr lang="zh-CN" altLang="en-US" sz="4800" b="1" kern="1200">
                <a:ln>
                  <a:noFill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智能助残产品</a:t>
            </a:r>
            <a:r>
              <a:rPr lang="en-US" altLang="zh-CN" sz="4800" b="1" kern="1200">
                <a:ln>
                  <a:noFill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（</a:t>
            </a:r>
            <a:r>
              <a:rPr lang="zh-CN" altLang="en-US" sz="4800" b="1" kern="1200">
                <a:ln>
                  <a:noFill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言语障碍沟通</a:t>
            </a:r>
            <a:r>
              <a:rPr lang="en-US" altLang="zh-CN" sz="4800" b="1" kern="1200">
                <a:ln>
                  <a:noFill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</a:t>
            </a:r>
            <a:endParaRPr lang="zh-CN" altLang="en-US" sz="4800" b="1" kern="1200">
              <a:ln>
                <a:noFill/>
              </a:ln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zh-CN" altLang="en-US" sz="4800" b="1" kern="1200">
                <a:ln>
                  <a:noFill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商业计划投资</a:t>
            </a:r>
            <a:r>
              <a:rPr lang="zh-CN" altLang="en-US" sz="4800" b="1" kern="1200">
                <a:ln>
                  <a:noFill/>
                </a:ln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方案</a:t>
            </a:r>
            <a:endParaRPr lang="zh-CN" altLang="en-US" sz="4800" b="1" kern="1200">
              <a:ln>
                <a:noFill/>
              </a:ln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621780" y="204470"/>
            <a:ext cx="5570220" cy="652780"/>
            <a:chOff x="10428" y="322"/>
            <a:chExt cx="8772" cy="1028"/>
          </a:xfrm>
        </p:grpSpPr>
        <p:sp>
          <p:nvSpPr>
            <p:cNvPr id="11" name="文本框 10"/>
            <p:cNvSpPr txBox="1"/>
            <p:nvPr/>
          </p:nvSpPr>
          <p:spPr>
            <a:xfrm>
              <a:off x="10428" y="322"/>
              <a:ext cx="8772" cy="10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kern="1200">
                  <a:solidFill>
                    <a:srgbClr val="0A6BFF"/>
                  </a:solidFill>
                  <a:latin typeface="+mn-lt"/>
                  <a:ea typeface="宋体" panose="02010600030101010101" pitchFamily="2" charset="-122"/>
                  <a:cs typeface="+mn-cs"/>
                  <a:sym typeface="+mn-ea"/>
                </a:rPr>
                <a:t>         </a:t>
              </a:r>
              <a:r>
                <a:rPr lang="zh-CN" altLang="en-US" sz="2000"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杭州燃言</a:t>
              </a:r>
              <a:r>
                <a:rPr lang="en-US" altLang="zh-CN" sz="2000"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---</a:t>
              </a:r>
              <a:r>
                <a:rPr lang="zh-CN" altLang="en-US" sz="2000"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科技向善</a:t>
              </a:r>
              <a:r>
                <a:rPr lang="en-US" altLang="zh-CN" sz="2000"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zh-CN" altLang="en-US" sz="2000"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有爱助残</a:t>
              </a:r>
              <a:r>
                <a:rPr lang="zh-CN" altLang="en-US" sz="2000"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扶老</a:t>
              </a:r>
              <a:r>
                <a:rPr lang="en-US" altLang="zh-CN" sz="2000" kern="1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</a:t>
              </a:r>
              <a:endPara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1887" y="1095"/>
              <a:ext cx="702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4039870" y="3429000"/>
            <a:ext cx="491744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12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杭州</a:t>
            </a:r>
            <a:r>
              <a:rPr lang="zh-CN" altLang="en-US" sz="2800" b="1" kern="12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燃言科技有限公司</a:t>
            </a:r>
            <a:endParaRPr lang="en-US" altLang="zh-CN" sz="2800" b="1" kern="1200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2026</a:t>
            </a:r>
            <a:r>
              <a:rPr lang="zh-CN" altLang="en-US" sz="2800" b="1" kern="12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altLang="zh-CN" sz="2800" b="1" kern="12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2800" b="1" kern="12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endParaRPr lang="zh-CN" altLang="en-US" sz="2800" b="1" kern="1200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2"/>
          <p:cNvSpPr/>
          <p:nvPr/>
        </p:nvSpPr>
        <p:spPr>
          <a:xfrm>
            <a:off x="762000" y="76073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 </a:t>
            </a:r>
            <a:r>
              <a:rPr lang="en-US" sz="28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目录</a:t>
            </a:r>
            <a:endParaRPr lang="en-US" sz="1100"/>
          </a:p>
        </p:txBody>
      </p:sp>
      <p:sp>
        <p:nvSpPr>
          <p:cNvPr id="6" name="AutoShape 3"/>
          <p:cNvSpPr/>
          <p:nvPr/>
        </p:nvSpPr>
        <p:spPr>
          <a:xfrm>
            <a:off x="762000" y="203073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4"/>
          <p:cNvSpPr/>
          <p:nvPr/>
        </p:nvSpPr>
        <p:spPr>
          <a:xfrm>
            <a:off x="1016000" y="234823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5"/>
          <p:cNvSpPr/>
          <p:nvPr/>
        </p:nvSpPr>
        <p:spPr>
          <a:xfrm>
            <a:off x="1905000" y="234823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项目背景与痛点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千万级刚需的市场空白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6"/>
          <p:cNvSpPr/>
          <p:nvPr/>
        </p:nvSpPr>
        <p:spPr>
          <a:xfrm>
            <a:off x="4445000" y="203073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7"/>
          <p:cNvSpPr/>
          <p:nvPr/>
        </p:nvSpPr>
        <p:spPr>
          <a:xfrm>
            <a:off x="4699000" y="234823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8"/>
          <p:cNvSpPr/>
          <p:nvPr/>
        </p:nvSpPr>
        <p:spPr>
          <a:xfrm>
            <a:off x="5588000" y="234823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公司优势与定位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不可复制的核心壁垒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9"/>
          <p:cNvSpPr/>
          <p:nvPr/>
        </p:nvSpPr>
        <p:spPr>
          <a:xfrm>
            <a:off x="8128000" y="203073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0"/>
          <p:cNvSpPr/>
          <p:nvPr/>
        </p:nvSpPr>
        <p:spPr>
          <a:xfrm>
            <a:off x="8382000" y="2348230"/>
            <a:ext cx="76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1"/>
          <p:cNvSpPr/>
          <p:nvPr/>
        </p:nvSpPr>
        <p:spPr>
          <a:xfrm>
            <a:off x="9271000" y="234823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产品规划与技术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三代产品的清晰路径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2"/>
          <p:cNvSpPr/>
          <p:nvPr/>
        </p:nvSpPr>
        <p:spPr>
          <a:xfrm>
            <a:off x="762000" y="431673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3"/>
          <p:cNvSpPr/>
          <p:nvPr/>
        </p:nvSpPr>
        <p:spPr>
          <a:xfrm>
            <a:off x="889000" y="463423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4"/>
          <p:cNvSpPr/>
          <p:nvPr/>
        </p:nvSpPr>
        <p:spPr>
          <a:xfrm>
            <a:off x="1778000" y="4634230"/>
            <a:ext cx="1460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市场分析与规模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百亿蓝海的商业价值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3619500" y="431673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16"/>
          <p:cNvSpPr/>
          <p:nvPr/>
        </p:nvSpPr>
        <p:spPr>
          <a:xfrm>
            <a:off x="3746500" y="463423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1" name="AutoShape 17"/>
          <p:cNvSpPr/>
          <p:nvPr/>
        </p:nvSpPr>
        <p:spPr>
          <a:xfrm>
            <a:off x="4635500" y="4634230"/>
            <a:ext cx="1460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运营规划与路径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三年三步走的落地策略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18"/>
          <p:cNvSpPr/>
          <p:nvPr/>
        </p:nvSpPr>
        <p:spPr>
          <a:xfrm>
            <a:off x="6477000" y="431673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9"/>
          <p:cNvSpPr/>
          <p:nvPr/>
        </p:nvSpPr>
        <p:spPr>
          <a:xfrm>
            <a:off x="6604000" y="463423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4" name="AutoShape 20"/>
          <p:cNvSpPr/>
          <p:nvPr/>
        </p:nvSpPr>
        <p:spPr>
          <a:xfrm>
            <a:off x="7493000" y="4634230"/>
            <a:ext cx="1460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融资计划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高回报的价值投资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1"/>
          <p:cNvSpPr/>
          <p:nvPr/>
        </p:nvSpPr>
        <p:spPr>
          <a:xfrm>
            <a:off x="9334500" y="4316730"/>
            <a:ext cx="2095500" cy="2032000"/>
          </a:xfrm>
          <a:prstGeom prst="roundRect">
            <a:avLst>
              <a:gd name="adj" fmla="val 75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2"/>
          <p:cNvSpPr/>
          <p:nvPr/>
        </p:nvSpPr>
        <p:spPr>
          <a:xfrm>
            <a:off x="9461500" y="4634230"/>
            <a:ext cx="69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7" name="AutoShape 23"/>
          <p:cNvSpPr/>
          <p:nvPr/>
        </p:nvSpPr>
        <p:spPr>
          <a:xfrm>
            <a:off x="10223500" y="4634230"/>
            <a:ext cx="107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风险与应对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稳健前行的保障</a:t>
            </a:r>
            <a:endParaRPr lang="en-US" sz="12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市场背景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：被忽视的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百亿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级刚需市场</a:t>
            </a:r>
            <a:endParaRPr lang="en-US" sz="1100"/>
          </a:p>
        </p:txBody>
      </p:sp>
      <p:sp>
        <p:nvSpPr>
          <p:cNvPr id="6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192024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405" y="2119630"/>
            <a:ext cx="406400" cy="406400"/>
          </a:xfrm>
          <a:prstGeom prst="rect">
            <a:avLst/>
          </a:prstGeom>
        </p:spPr>
      </p:pic>
      <p:sp>
        <p:nvSpPr>
          <p:cNvPr id="8" name="AutoShape 5"/>
          <p:cNvSpPr/>
          <p:nvPr>
            <p:custDataLst>
              <p:tags r:id="rId5"/>
            </p:custDataLst>
          </p:nvPr>
        </p:nvSpPr>
        <p:spPr>
          <a:xfrm>
            <a:off x="1466215" y="201803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1300万</a:t>
            </a:r>
            <a:endParaRPr lang="en-US" sz="1100"/>
          </a:p>
        </p:txBody>
      </p:sp>
      <p:sp>
        <p:nvSpPr>
          <p:cNvPr id="9" name="AutoShape 6"/>
          <p:cNvSpPr/>
          <p:nvPr>
            <p:custDataLst>
              <p:tags r:id="rId6"/>
            </p:custDataLst>
          </p:nvPr>
        </p:nvSpPr>
        <p:spPr>
          <a:xfrm>
            <a:off x="614045" y="294005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中国言语障碍人群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altLang="zh-CN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现存言语障碍残友</a:t>
            </a:r>
            <a:endParaRPr lang="zh-CN" alt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</a:t>
            </a:r>
            <a:r>
              <a:rPr lang="en-US" altLang="zh-CN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1300</a:t>
            </a: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万，每年新增</a:t>
            </a:r>
            <a:r>
              <a:rPr lang="en-US" altLang="zh-CN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</a:t>
            </a: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</a:t>
            </a:r>
            <a:endParaRPr lang="zh-CN" alt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7"/>
          <p:cNvSpPr/>
          <p:nvPr>
            <p:custDataLst>
              <p:tags r:id="rId7"/>
            </p:custDataLst>
          </p:nvPr>
        </p:nvSpPr>
        <p:spPr>
          <a:xfrm>
            <a:off x="5010785" y="1778000"/>
            <a:ext cx="1999615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80330" y="2089785"/>
            <a:ext cx="406400" cy="406400"/>
          </a:xfrm>
          <a:prstGeom prst="rect">
            <a:avLst/>
          </a:prstGeom>
        </p:spPr>
      </p:pic>
      <p:sp>
        <p:nvSpPr>
          <p:cNvPr id="13" name="AutoShape 9"/>
          <p:cNvSpPr/>
          <p:nvPr>
            <p:custDataLst>
              <p:tags r:id="rId11"/>
            </p:custDataLst>
          </p:nvPr>
        </p:nvSpPr>
        <p:spPr>
          <a:xfrm>
            <a:off x="5688330" y="20066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20%</a:t>
            </a:r>
            <a:endParaRPr lang="en-US" sz="1100"/>
          </a:p>
        </p:txBody>
      </p:sp>
      <p:sp>
        <p:nvSpPr>
          <p:cNvPr id="14" name="AutoShape 10"/>
          <p:cNvSpPr/>
          <p:nvPr>
            <p:custDataLst>
              <p:tags r:id="rId12"/>
            </p:custDataLst>
          </p:nvPr>
        </p:nvSpPr>
        <p:spPr>
          <a:xfrm>
            <a:off x="4909185" y="282448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通用语音识别率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对障碍人群几乎完全无效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1"/>
          <p:cNvSpPr/>
          <p:nvPr>
            <p:custDataLst>
              <p:tags r:id="rId13"/>
            </p:custDataLst>
          </p:nvPr>
        </p:nvSpPr>
        <p:spPr>
          <a:xfrm>
            <a:off x="7154545" y="1778000"/>
            <a:ext cx="202057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81545" y="2065020"/>
            <a:ext cx="406400" cy="406400"/>
          </a:xfrm>
          <a:prstGeom prst="rect">
            <a:avLst/>
          </a:prstGeom>
        </p:spPr>
      </p:pic>
      <p:sp>
        <p:nvSpPr>
          <p:cNvPr id="17" name="AutoShape 13"/>
          <p:cNvSpPr/>
          <p:nvPr>
            <p:custDataLst>
              <p:tags r:id="rId17"/>
            </p:custDataLst>
          </p:nvPr>
        </p:nvSpPr>
        <p:spPr>
          <a:xfrm>
            <a:off x="7789545" y="20066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0.5-2 万元</a:t>
            </a:r>
            <a:endParaRPr lang="en-US" sz="1100"/>
          </a:p>
        </p:txBody>
      </p:sp>
      <p:sp>
        <p:nvSpPr>
          <p:cNvPr id="18" name="AutoShape 14"/>
          <p:cNvSpPr/>
          <p:nvPr>
            <p:custDataLst>
              <p:tags r:id="rId18"/>
            </p:custDataLst>
          </p:nvPr>
        </p:nvSpPr>
        <p:spPr>
          <a:xfrm>
            <a:off x="7118985" y="2794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进口辅助设备高昂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缺乏中文适配，难以使用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9346565" y="1778000"/>
            <a:ext cx="205359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1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77705" y="2083435"/>
            <a:ext cx="406400" cy="406400"/>
          </a:xfrm>
          <a:prstGeom prst="rect">
            <a:avLst/>
          </a:prstGeom>
        </p:spPr>
      </p:pic>
      <p:sp>
        <p:nvSpPr>
          <p:cNvPr id="21" name="AutoShape 17"/>
          <p:cNvSpPr/>
          <p:nvPr/>
        </p:nvSpPr>
        <p:spPr>
          <a:xfrm>
            <a:off x="9984105" y="20066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核心困境</a:t>
            </a:r>
            <a:endParaRPr lang="en-US" sz="1100"/>
          </a:p>
        </p:txBody>
      </p:sp>
      <p:sp>
        <p:nvSpPr>
          <p:cNvPr id="22" name="AutoShape 18"/>
          <p:cNvSpPr/>
          <p:nvPr/>
        </p:nvSpPr>
        <p:spPr>
          <a:xfrm>
            <a:off x="9363075" y="2959100"/>
            <a:ext cx="193929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沟通失语 · 就业受限</a:t>
            </a:r>
            <a:endParaRPr lang="en-US" sz="1000"/>
          </a:p>
          <a:p>
            <a:pPr indent="0" algn="ctr">
              <a:lnSpc>
                <a:spcPct val="125000"/>
              </a:lnSpc>
            </a:pPr>
            <a:r>
              <a:rPr lang="en-US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社交严重隔离</a:t>
            </a:r>
            <a:r>
              <a:rPr lang="zh-CN" altLang="en-US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，期待无障碍沟通</a:t>
            </a:r>
            <a:endParaRPr lang="zh-CN" altLang="en-US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9"/>
          <p:cNvSpPr/>
          <p:nvPr/>
        </p:nvSpPr>
        <p:spPr>
          <a:xfrm>
            <a:off x="762000" y="4572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0"/>
          <p:cNvSpPr/>
          <p:nvPr/>
        </p:nvSpPr>
        <p:spPr>
          <a:xfrm>
            <a:off x="762000" y="4572000"/>
            <a:ext cx="101600" cy="1524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1"/>
          <p:cNvSpPr/>
          <p:nvPr/>
        </p:nvSpPr>
        <p:spPr>
          <a:xfrm>
            <a:off x="1143000" y="48895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一句话结论：</a:t>
            </a:r>
            <a:r>
              <a:rPr lang="en-US" sz="2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百</a:t>
            </a:r>
            <a:r>
              <a:rPr lang="zh-CN" altLang="en-US" sz="2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亿</a:t>
            </a:r>
            <a:r>
              <a:rPr lang="en-US" sz="2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级赛道无真正竞品，市场空白、刚需极强。</a:t>
            </a:r>
            <a:endParaRPr lang="en-US" sz="1100"/>
          </a:p>
        </p:txBody>
      </p:sp>
      <p:sp>
        <p:nvSpPr>
          <p:cNvPr id="3" name="AutoShape 7"/>
          <p:cNvSpPr/>
          <p:nvPr>
            <p:custDataLst>
              <p:tags r:id="rId21"/>
            </p:custDataLst>
          </p:nvPr>
        </p:nvSpPr>
        <p:spPr>
          <a:xfrm>
            <a:off x="2859405" y="1778000"/>
            <a:ext cx="1999615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0"/>
          <p:cNvSpPr/>
          <p:nvPr>
            <p:custDataLst>
              <p:tags r:id="rId22"/>
            </p:custDataLst>
          </p:nvPr>
        </p:nvSpPr>
        <p:spPr>
          <a:xfrm>
            <a:off x="2757805" y="294005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老龄化持续加快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大量</a:t>
            </a: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老年人中风后陷入</a:t>
            </a:r>
            <a:endParaRPr lang="zh-CN" alt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失语问题</a:t>
            </a:r>
            <a:r>
              <a:rPr lang="en-US" altLang="zh-CN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</a:t>
            </a: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每年新增</a:t>
            </a:r>
            <a:r>
              <a:rPr lang="en-US" altLang="zh-CN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</a:t>
            </a:r>
            <a:r>
              <a:rPr lang="zh-CN" alt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</a:t>
            </a:r>
            <a:endParaRPr lang="zh-CN" alt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Picture 4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635" y="2133600"/>
            <a:ext cx="406400" cy="406400"/>
          </a:xfrm>
          <a:prstGeom prst="rect">
            <a:avLst/>
          </a:prstGeom>
        </p:spPr>
      </p:pic>
      <p:sp>
        <p:nvSpPr>
          <p:cNvPr id="30" name="AutoShape 5"/>
          <p:cNvSpPr/>
          <p:nvPr>
            <p:custDataLst>
              <p:tags r:id="rId24"/>
            </p:custDataLst>
          </p:nvPr>
        </p:nvSpPr>
        <p:spPr>
          <a:xfrm>
            <a:off x="3433445" y="2032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亿老年人</a:t>
            </a:r>
            <a:endParaRPr lang="zh-CN" altLang="en-US" sz="24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76073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现有解决方案的困境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03073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62000" y="203073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8200" y="2538730"/>
            <a:ext cx="609600" cy="6096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889000" y="342773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传统辅助工具</a:t>
            </a:r>
            <a:endParaRPr lang="en-US" sz="1100"/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889000" y="418973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手写板、沟通卡</a:t>
            </a:r>
            <a:endParaRPr lang="en-US" sz="1100"/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952500" y="495173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效率低、即时性差，难以应对语速快、信息量多的日常交流场景。</a:t>
            </a:r>
            <a:endParaRPr lang="en-US" sz="1100"/>
          </a:p>
        </p:txBody>
      </p:sp>
      <p:sp>
        <p:nvSpPr>
          <p:cNvPr id="10" name="AutoShape 9"/>
          <p:cNvSpPr/>
          <p:nvPr>
            <p:custDataLst>
              <p:tags r:id="rId9"/>
            </p:custDataLst>
          </p:nvPr>
        </p:nvSpPr>
        <p:spPr>
          <a:xfrm>
            <a:off x="4445000" y="203073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0"/>
          <p:cNvSpPr/>
          <p:nvPr>
            <p:custDataLst>
              <p:tags r:id="rId10"/>
            </p:custDataLst>
          </p:nvPr>
        </p:nvSpPr>
        <p:spPr>
          <a:xfrm>
            <a:off x="4445000" y="203073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91200" y="2538730"/>
            <a:ext cx="609600" cy="609600"/>
          </a:xfrm>
          <a:prstGeom prst="rect">
            <a:avLst/>
          </a:prstGeom>
        </p:spPr>
      </p:pic>
      <p:sp>
        <p:nvSpPr>
          <p:cNvPr id="14" name="AutoShape 12"/>
          <p:cNvSpPr/>
          <p:nvPr>
            <p:custDataLst>
              <p:tags r:id="rId14"/>
            </p:custDataLst>
          </p:nvPr>
        </p:nvSpPr>
        <p:spPr>
          <a:xfrm>
            <a:off x="4572000" y="342773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通用语音助手</a:t>
            </a:r>
            <a:endParaRPr lang="en-US" sz="1100"/>
          </a:p>
        </p:txBody>
      </p:sp>
      <p:sp>
        <p:nvSpPr>
          <p:cNvPr id="15" name="AutoShape 13"/>
          <p:cNvSpPr/>
          <p:nvPr>
            <p:custDataLst>
              <p:tags r:id="rId15"/>
            </p:custDataLst>
          </p:nvPr>
        </p:nvSpPr>
        <p:spPr>
          <a:xfrm>
            <a:off x="4572000" y="418973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讯飞、小爱等大众产品</a:t>
            </a:r>
            <a:endParaRPr lang="en-US" sz="1100"/>
          </a:p>
        </p:txBody>
      </p:sp>
      <p:sp>
        <p:nvSpPr>
          <p:cNvPr id="16" name="AutoShape 14"/>
          <p:cNvSpPr/>
          <p:nvPr>
            <p:custDataLst>
              <p:tags r:id="rId16"/>
            </p:custDataLst>
          </p:nvPr>
        </p:nvSpPr>
        <p:spPr>
          <a:xfrm>
            <a:off x="4635500" y="495173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对构音障碍人士的非标发音识别率不足10%，无法适配特定人群的使用需求。</a:t>
            </a:r>
            <a:endParaRPr lang="en-US" sz="1100"/>
          </a:p>
        </p:txBody>
      </p:sp>
      <p:sp>
        <p:nvSpPr>
          <p:cNvPr id="17" name="AutoShape 15"/>
          <p:cNvSpPr/>
          <p:nvPr>
            <p:custDataLst>
              <p:tags r:id="rId17"/>
            </p:custDataLst>
          </p:nvPr>
        </p:nvSpPr>
        <p:spPr>
          <a:xfrm>
            <a:off x="8128000" y="203073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6"/>
          <p:cNvSpPr/>
          <p:nvPr>
            <p:custDataLst>
              <p:tags r:id="rId18"/>
            </p:custDataLst>
          </p:nvPr>
        </p:nvSpPr>
        <p:spPr>
          <a:xfrm>
            <a:off x="8128000" y="203073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474200" y="2538730"/>
            <a:ext cx="609600" cy="609600"/>
          </a:xfrm>
          <a:prstGeom prst="rect">
            <a:avLst/>
          </a:prstGeom>
        </p:spPr>
      </p:pic>
      <p:sp>
        <p:nvSpPr>
          <p:cNvPr id="20" name="AutoShape 18"/>
          <p:cNvSpPr/>
          <p:nvPr>
            <p:custDataLst>
              <p:tags r:id="rId22"/>
            </p:custDataLst>
          </p:nvPr>
        </p:nvSpPr>
        <p:spPr>
          <a:xfrm>
            <a:off x="8255000" y="342773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国外AAC设备</a:t>
            </a:r>
            <a:endParaRPr lang="en-US" sz="1100"/>
          </a:p>
        </p:txBody>
      </p:sp>
      <p:sp>
        <p:nvSpPr>
          <p:cNvPr id="21" name="AutoShape 19"/>
          <p:cNvSpPr/>
          <p:nvPr>
            <p:custDataLst>
              <p:tags r:id="rId23"/>
            </p:custDataLst>
          </p:nvPr>
        </p:nvSpPr>
        <p:spPr>
          <a:xfrm>
            <a:off x="8255000" y="418973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Prentke Romich等专业品牌</a:t>
            </a:r>
            <a:endParaRPr lang="en-US" sz="1100"/>
          </a:p>
        </p:txBody>
      </p:sp>
      <p:sp>
        <p:nvSpPr>
          <p:cNvPr id="22" name="AutoShape 20"/>
          <p:cNvSpPr/>
          <p:nvPr>
            <p:custDataLst>
              <p:tags r:id="rId24"/>
            </p:custDataLst>
          </p:nvPr>
        </p:nvSpPr>
        <p:spPr>
          <a:xfrm>
            <a:off x="8318500" y="495173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设备价格昂贵（3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-10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）、无原生中文适配，且功能过于冗余，使用门槛高。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71882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核心痛点总结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8882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/>
        </p:nvSpPr>
        <p:spPr>
          <a:xfrm>
            <a:off x="762000" y="198882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446020"/>
            <a:ext cx="457200" cy="4572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1651000" y="242062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用户端</a:t>
            </a: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SIDE</a:t>
            </a:r>
            <a:endParaRPr lang="en-US" sz="1100"/>
          </a:p>
        </p:txBody>
      </p:sp>
      <p:sp>
        <p:nvSpPr>
          <p:cNvPr id="8" name="AutoShape 7"/>
          <p:cNvSpPr/>
          <p:nvPr/>
        </p:nvSpPr>
        <p:spPr>
          <a:xfrm>
            <a:off x="1016000" y="338582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日常沟通困难，极易被误解，导致严重的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社交自卑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心理，且在求职中面临隐形歧视。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市场上缺乏一款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低成本、操作简单、且专为言语障碍人群设计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的语音翻译辅助工具。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/>
        </p:nvSpPr>
        <p:spPr>
          <a:xfrm>
            <a:off x="4445000" y="198882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/>
        </p:nvSpPr>
        <p:spPr>
          <a:xfrm>
            <a:off x="4445000" y="198882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800" y="2446020"/>
            <a:ext cx="457200" cy="457200"/>
          </a:xfrm>
          <a:prstGeom prst="rect">
            <a:avLst/>
          </a:prstGeom>
        </p:spPr>
      </p:pic>
      <p:sp>
        <p:nvSpPr>
          <p:cNvPr id="13" name="AutoShape 11"/>
          <p:cNvSpPr/>
          <p:nvPr/>
        </p:nvSpPr>
        <p:spPr>
          <a:xfrm>
            <a:off x="5334000" y="242062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市场端</a:t>
            </a: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MARKET SIDE</a:t>
            </a:r>
            <a:endParaRPr lang="en-US" sz="1100"/>
          </a:p>
        </p:txBody>
      </p:sp>
      <p:sp>
        <p:nvSpPr>
          <p:cNvPr id="14" name="AutoShape 12"/>
          <p:cNvSpPr/>
          <p:nvPr/>
        </p:nvSpPr>
        <p:spPr>
          <a:xfrm>
            <a:off x="4699000" y="338582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1200"/>
              </a:spcBef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目前市面上的辅助沟通产品功能分散、体验割裂，缺乏整合AI技术的专业终端。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2400"/>
              </a:spcBef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专注言语障碍群体的AI翻译产品赛道，目前仍属于绝对的</a:t>
            </a:r>
            <a:r>
              <a:rPr lang="en-US" sz="15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市场空白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，需求迫切且未被满足。</a:t>
            </a:r>
            <a:endParaRPr lang="en-US" sz="15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/>
        </p:nvSpPr>
        <p:spPr>
          <a:xfrm>
            <a:off x="8128000" y="198882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/>
        </p:nvSpPr>
        <p:spPr>
          <a:xfrm>
            <a:off x="8128000" y="198882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446020"/>
            <a:ext cx="457200" cy="457200"/>
          </a:xfrm>
          <a:prstGeom prst="rect">
            <a:avLst/>
          </a:prstGeom>
        </p:spPr>
      </p:pic>
      <p:sp>
        <p:nvSpPr>
          <p:cNvPr id="18" name="AutoShape 16"/>
          <p:cNvSpPr/>
          <p:nvPr/>
        </p:nvSpPr>
        <p:spPr>
          <a:xfrm>
            <a:off x="9017000" y="242062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产业端</a:t>
            </a: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INDUSTRY SIDE</a:t>
            </a:r>
            <a:endParaRPr lang="en-US" sz="1100"/>
          </a:p>
        </p:txBody>
      </p:sp>
      <p:sp>
        <p:nvSpPr>
          <p:cNvPr id="19" name="AutoShape 17"/>
          <p:cNvSpPr/>
          <p:nvPr/>
        </p:nvSpPr>
        <p:spPr>
          <a:xfrm>
            <a:off x="8382000" y="338582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缺乏高质量、大规模的非标发音训练数据，是行业技术突破的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核心瓶颈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20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资金方：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垂直领域用户资源匮乏，缺乏成熟的场景落地与商业变现能力。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政策红利：东风已至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203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2273300"/>
            <a:ext cx="660400" cy="5334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889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国家战略</a:t>
            </a:r>
            <a:endParaRPr lang="en-US" sz="1100"/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889000" y="4191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“十五五”规划重点支持智能助残、无障碍科技产业发展。</a:t>
            </a:r>
            <a:endParaRPr lang="en-US" sz="1100"/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3048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9"/>
            </p:custDataLst>
          </p:nvPr>
        </p:nvSpPr>
        <p:spPr>
          <a:xfrm>
            <a:off x="3048000" y="2032000"/>
            <a:ext cx="203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33800" y="2273300"/>
            <a:ext cx="660400" cy="533400"/>
          </a:xfrm>
          <a:prstGeom prst="rect">
            <a:avLst/>
          </a:prstGeom>
        </p:spPr>
      </p:pic>
      <p:sp>
        <p:nvSpPr>
          <p:cNvPr id="13" name="AutoShape 11"/>
          <p:cNvSpPr/>
          <p:nvPr>
            <p:custDataLst>
              <p:tags r:id="rId13"/>
            </p:custDataLst>
          </p:nvPr>
        </p:nvSpPr>
        <p:spPr>
          <a:xfrm>
            <a:off x="3175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研发补贴</a:t>
            </a:r>
            <a:endParaRPr lang="en-US" sz="1100"/>
          </a:p>
        </p:txBody>
      </p:sp>
      <p:sp>
        <p:nvSpPr>
          <p:cNvPr id="14" name="AutoShape 12"/>
          <p:cNvSpPr/>
          <p:nvPr>
            <p:custDataLst>
              <p:tags r:id="rId14"/>
            </p:custDataLst>
          </p:nvPr>
        </p:nvSpPr>
        <p:spPr>
          <a:xfrm>
            <a:off x="3175000" y="4191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对符合国家标准的残疾人辅助器具产品研发，提供</a:t>
            </a:r>
            <a:r>
              <a:rPr lang="en-US" sz="16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专项资金</a:t>
            </a: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与项目补贴支持。</a:t>
            </a:r>
            <a:endParaRPr lang="en-US" sz="1100"/>
          </a:p>
        </p:txBody>
      </p:sp>
      <p:sp>
        <p:nvSpPr>
          <p:cNvPr id="15" name="AutoShape 13"/>
          <p:cNvSpPr/>
          <p:nvPr>
            <p:custDataLst>
              <p:tags r:id="rId15"/>
            </p:custDataLst>
          </p:nvPr>
        </p:nvSpPr>
        <p:spPr>
          <a:xfrm>
            <a:off x="5334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>
            <p:custDataLst>
              <p:tags r:id="rId16"/>
            </p:custDataLst>
          </p:nvPr>
        </p:nvSpPr>
        <p:spPr>
          <a:xfrm>
            <a:off x="5334000" y="2032000"/>
            <a:ext cx="203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19800" y="2273300"/>
            <a:ext cx="660400" cy="533400"/>
          </a:xfrm>
          <a:prstGeom prst="rect">
            <a:avLst/>
          </a:prstGeom>
        </p:spPr>
      </p:pic>
      <p:sp>
        <p:nvSpPr>
          <p:cNvPr id="18" name="AutoShape 16"/>
          <p:cNvSpPr/>
          <p:nvPr>
            <p:custDataLst>
              <p:tags r:id="rId20"/>
            </p:custDataLst>
          </p:nvPr>
        </p:nvSpPr>
        <p:spPr>
          <a:xfrm>
            <a:off x="5461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税收优惠</a:t>
            </a:r>
            <a:endParaRPr lang="en-US" sz="1100"/>
          </a:p>
        </p:txBody>
      </p:sp>
      <p:sp>
        <p:nvSpPr>
          <p:cNvPr id="19" name="AutoShape 17"/>
          <p:cNvSpPr/>
          <p:nvPr>
            <p:custDataLst>
              <p:tags r:id="rId21"/>
            </p:custDataLst>
          </p:nvPr>
        </p:nvSpPr>
        <p:spPr>
          <a:xfrm>
            <a:off x="5461000" y="4191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相关企业及产品享受增值税“</a:t>
            </a:r>
            <a:r>
              <a:rPr lang="en-US" sz="16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即征即退”</a:t>
            </a: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及所得税减免等多重税收利好政策。</a:t>
            </a:r>
            <a:endParaRPr lang="en-US" sz="1100"/>
          </a:p>
        </p:txBody>
      </p:sp>
      <p:sp>
        <p:nvSpPr>
          <p:cNvPr id="20" name="AutoShape 18"/>
          <p:cNvSpPr/>
          <p:nvPr>
            <p:custDataLst>
              <p:tags r:id="rId22"/>
            </p:custDataLst>
          </p:nvPr>
        </p:nvSpPr>
        <p:spPr>
          <a:xfrm>
            <a:off x="7620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19"/>
          <p:cNvSpPr/>
          <p:nvPr>
            <p:custDataLst>
              <p:tags r:id="rId23"/>
            </p:custDataLst>
          </p:nvPr>
        </p:nvSpPr>
        <p:spPr>
          <a:xfrm>
            <a:off x="7620000" y="2032000"/>
            <a:ext cx="203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05800" y="2273300"/>
            <a:ext cx="660400" cy="533400"/>
          </a:xfrm>
          <a:prstGeom prst="rect">
            <a:avLst/>
          </a:prstGeom>
        </p:spPr>
      </p:pic>
      <p:sp>
        <p:nvSpPr>
          <p:cNvPr id="23" name="AutoShape 21"/>
          <p:cNvSpPr/>
          <p:nvPr>
            <p:custDataLst>
              <p:tags r:id="rId27"/>
            </p:custDataLst>
          </p:nvPr>
        </p:nvSpPr>
        <p:spPr>
          <a:xfrm>
            <a:off x="7747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政府采购</a:t>
            </a:r>
            <a:endParaRPr lang="en-US" sz="1100"/>
          </a:p>
        </p:txBody>
      </p:sp>
      <p:sp>
        <p:nvSpPr>
          <p:cNvPr id="24" name="AutoShape 22"/>
          <p:cNvSpPr/>
          <p:nvPr>
            <p:custDataLst>
              <p:tags r:id="rId28"/>
            </p:custDataLst>
          </p:nvPr>
        </p:nvSpPr>
        <p:spPr>
          <a:xfrm>
            <a:off x="7747000" y="4191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政府机关、事业单位及国企在采购助残、适老化产品时，给予相关企业优先采购权</a:t>
            </a:r>
            <a:r>
              <a:rPr lang="zh-CN" alt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，如浙江省残联采购强脑科</a:t>
            </a:r>
            <a:r>
              <a:rPr lang="zh-CN" altLang="en-US" sz="1300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</a:t>
            </a:r>
            <a:r>
              <a:rPr lang="en-US" altLang="zh-CN" sz="1300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1300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亿元智能仿生假肢</a:t>
            </a:r>
            <a:endParaRPr lang="zh-CN" altLang="en-US" sz="1300" b="0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3"/>
          <p:cNvSpPr/>
          <p:nvPr>
            <p:custDataLst>
              <p:tags r:id="rId29"/>
            </p:custDataLst>
          </p:nvPr>
        </p:nvSpPr>
        <p:spPr>
          <a:xfrm>
            <a:off x="9779000" y="2032000"/>
            <a:ext cx="2032000" cy="406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4"/>
          <p:cNvSpPr/>
          <p:nvPr>
            <p:custDataLst>
              <p:tags r:id="rId30"/>
            </p:custDataLst>
          </p:nvPr>
        </p:nvSpPr>
        <p:spPr>
          <a:xfrm>
            <a:off x="9779000" y="2032000"/>
            <a:ext cx="203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464800" y="2273300"/>
            <a:ext cx="660400" cy="533400"/>
          </a:xfrm>
          <a:prstGeom prst="rect">
            <a:avLst/>
          </a:prstGeom>
        </p:spPr>
      </p:pic>
      <p:sp>
        <p:nvSpPr>
          <p:cNvPr id="28" name="AutoShape 26"/>
          <p:cNvSpPr/>
          <p:nvPr>
            <p:custDataLst>
              <p:tags r:id="rId34"/>
            </p:custDataLst>
          </p:nvPr>
        </p:nvSpPr>
        <p:spPr>
          <a:xfrm>
            <a:off x="99060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渠道支持</a:t>
            </a:r>
            <a:endParaRPr lang="en-US" sz="1100"/>
          </a:p>
        </p:txBody>
      </p:sp>
      <p:sp>
        <p:nvSpPr>
          <p:cNvPr id="29" name="AutoShape 27"/>
          <p:cNvSpPr/>
          <p:nvPr>
            <p:custDataLst>
              <p:tags r:id="rId35"/>
            </p:custDataLst>
          </p:nvPr>
        </p:nvSpPr>
        <p:spPr>
          <a:xfrm>
            <a:off x="9906000" y="4191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地方残联、民政及街道社区提供线下销售渠道支持，协助开展用户</a:t>
            </a:r>
            <a:r>
              <a:rPr lang="en-US" sz="1600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补贴推广</a:t>
            </a: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662305" y="68897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核心团队介绍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/>
          </a:p>
        </p:txBody>
      </p:sp>
      <p:pic>
        <p:nvPicPr>
          <p:cNvPr id="19" name="图片 18" descr="C:/Users/10703/Desktop/图片1.png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542"/>
          <a:stretch>
            <a:fillRect/>
          </a:stretch>
        </p:blipFill>
        <p:spPr>
          <a:xfrm>
            <a:off x="1422079" y="1323902"/>
            <a:ext cx="2395476" cy="2368389"/>
          </a:xfrm>
          <a:prstGeom prst="rect">
            <a:avLst/>
          </a:prstGeom>
        </p:spPr>
      </p:pic>
      <p:sp>
        <p:nvSpPr>
          <p:cNvPr id="33" name="Rectangle 6"/>
          <p:cNvSpPr/>
          <p:nvPr>
            <p:custDataLst>
              <p:tags r:id="rId3"/>
            </p:custDataLst>
          </p:nvPr>
        </p:nvSpPr>
        <p:spPr>
          <a:xfrm>
            <a:off x="1059180" y="3785235"/>
            <a:ext cx="3572510" cy="2640965"/>
          </a:xfrm>
          <a:prstGeom prst="rect">
            <a:avLst/>
          </a:prstGeom>
          <a:gradFill flip="none" rotWithShape="1">
            <a:gsLst>
              <a:gs pos="83000">
                <a:srgbClr val="1D78FA"/>
              </a:gs>
              <a:gs pos="7000">
                <a:srgbClr val="1D78FA">
                  <a:lumMod val="60000"/>
                  <a:lumOff val="40000"/>
                </a:srgbClr>
              </a:gs>
            </a:gsLst>
            <a:lin ang="2700000" scaled="1"/>
            <a:tileRect/>
          </a:gradFill>
          <a:ln w="12700" cap="flat">
            <a:gradFill>
              <a:gsLst>
                <a:gs pos="93878">
                  <a:srgbClr val="1D78FA">
                    <a:lumMod val="20000"/>
                    <a:lumOff val="80000"/>
                  </a:srgbClr>
                </a:gs>
                <a:gs pos="0">
                  <a:srgbClr val="1D78FA">
                    <a:lumMod val="20000"/>
                    <a:lumOff val="8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reflection blurRad="139700" stA="93000" endPos="14000" dir="5400000" sy="-100000" algn="bl" rotWithShape="0"/>
          </a:effectLst>
          <a:scene3d>
            <a:camera prst="orthographicFront"/>
            <a:lightRig rig="contrasting" dir="t"/>
          </a:scene3d>
          <a:sp3d extrusionH="311150"/>
        </p:spPr>
        <p:txBody>
          <a:bodyPr rtlCol="0" anchor="ctr"/>
          <a:p>
            <a:pPr algn="ctr"/>
            <a:endParaRPr lang="en-US" sz="1065" kern="0" dirty="0">
              <a:solidFill>
                <a:srgbClr val="000000"/>
              </a:solidFill>
              <a:latin typeface="Roboto Regular"/>
              <a:ea typeface="思源黑体 CN Regular" panose="020B0500000000000000" charset="-122"/>
              <a:sym typeface="思源黑体" panose="020B0500000000000000" pitchFamily="34" charset="-122"/>
            </a:endParaRPr>
          </a:p>
        </p:txBody>
      </p:sp>
      <p:sp>
        <p:nvSpPr>
          <p:cNvPr id="34" name="TextBox 11"/>
          <p:cNvSpPr txBox="1"/>
          <p:nvPr>
            <p:custDataLst>
              <p:tags r:id="rId4"/>
            </p:custDataLst>
          </p:nvPr>
        </p:nvSpPr>
        <p:spPr>
          <a:xfrm flipH="1">
            <a:off x="1245235" y="4605655"/>
            <a:ext cx="3030220" cy="21043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吕国峰，阿里公益之星，阿里杰出校友，</a:t>
            </a: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近</a:t>
            </a:r>
            <a:r>
              <a:rPr lang="en-US" altLang="zh-CN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年专业助残经验和众多互联网就业资源，</a:t>
            </a: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致力于残疾人全产业发展推动，</a:t>
            </a:r>
            <a:r>
              <a:rPr lang="en-US" altLang="zh-CN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康复、培训、就业、婚恋、电商</a:t>
            </a:r>
            <a:r>
              <a:rPr lang="en-US" altLang="zh-CN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等。</a:t>
            </a:r>
            <a:endParaRPr lang="zh-CN" altLang="en-US" sz="10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作为阿里杰出校友，秉承</a:t>
            </a:r>
            <a:r>
              <a:rPr lang="en-US" altLang="zh-CN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让更多被忽视的人走上有尊严工作岗位</a:t>
            </a:r>
            <a:r>
              <a:rPr lang="en-US" altLang="zh-CN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的理念，发挥特搭建此平台，为全国就业贡献一份力，目前已经在全国累计实现近</a:t>
            </a:r>
            <a:r>
              <a:rPr lang="en-US" altLang="zh-CN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</a:t>
            </a: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人全职就业</a:t>
            </a:r>
            <a:endParaRPr lang="zh-CN" altLang="en-US" sz="10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5"/>
            </p:custDataLst>
          </p:nvPr>
        </p:nvSpPr>
        <p:spPr>
          <a:xfrm>
            <a:off x="1789285" y="4239160"/>
            <a:ext cx="2122755" cy="299683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董事长</a:t>
            </a:r>
            <a:endParaRPr kumimoji="1" lang="zh-CN" altLang="en-US" sz="1335" b="1" i="0" u="none" strike="noStrike" kern="0" cap="none" spc="0" normalizeH="0" baseline="0" noProof="0" dirty="0">
              <a:ln>
                <a:noFill/>
              </a:ln>
              <a:solidFill>
                <a:srgbClr val="1D78F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TextBox 18"/>
          <p:cNvSpPr txBox="1"/>
          <p:nvPr>
            <p:custDataLst>
              <p:tags r:id="rId6"/>
            </p:custDataLst>
          </p:nvPr>
        </p:nvSpPr>
        <p:spPr>
          <a:xfrm>
            <a:off x="2074153" y="3887837"/>
            <a:ext cx="1551325" cy="2870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吕国峰</a:t>
            </a:r>
            <a:endParaRPr lang="zh-CN" altLang="en-US" sz="1865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2" name="Rectangle 6"/>
          <p:cNvSpPr/>
          <p:nvPr>
            <p:custDataLst>
              <p:tags r:id="rId7"/>
            </p:custDataLst>
          </p:nvPr>
        </p:nvSpPr>
        <p:spPr>
          <a:xfrm>
            <a:off x="6502773" y="3785403"/>
            <a:ext cx="4405933" cy="2640851"/>
          </a:xfrm>
          <a:prstGeom prst="rect">
            <a:avLst/>
          </a:prstGeom>
          <a:gradFill flip="none" rotWithShape="1">
            <a:gsLst>
              <a:gs pos="83000">
                <a:srgbClr val="1D78FA"/>
              </a:gs>
              <a:gs pos="7000">
                <a:srgbClr val="1D78FA">
                  <a:lumMod val="60000"/>
                  <a:lumOff val="40000"/>
                </a:srgbClr>
              </a:gs>
            </a:gsLst>
            <a:lin ang="2700000" scaled="1"/>
            <a:tileRect/>
          </a:gradFill>
          <a:ln w="12700" cap="flat">
            <a:gradFill>
              <a:gsLst>
                <a:gs pos="93878">
                  <a:srgbClr val="1D78FA">
                    <a:lumMod val="20000"/>
                    <a:lumOff val="80000"/>
                  </a:srgbClr>
                </a:gs>
                <a:gs pos="0">
                  <a:srgbClr val="1D78FA">
                    <a:lumMod val="20000"/>
                    <a:lumOff val="8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reflection blurRad="139700" stA="93000" endPos="14000" dir="5400000" sy="-100000" algn="bl" rotWithShape="0"/>
          </a:effectLst>
          <a:scene3d>
            <a:camera prst="orthographicFront"/>
            <a:lightRig rig="contrasting" dir="t"/>
          </a:scene3d>
          <a:sp3d extrusionH="311150"/>
        </p:spPr>
        <p:txBody>
          <a:bodyPr rtlCol="0" anchor="ctr"/>
          <a:p>
            <a:pPr algn="ctr"/>
            <a:endParaRPr lang="en-US" sz="1065" kern="0" dirty="0">
              <a:solidFill>
                <a:srgbClr val="000000"/>
              </a:solidFill>
              <a:latin typeface="Roboto Regular"/>
              <a:ea typeface="思源黑体 CN Regular" panose="020B0500000000000000" charset="-122"/>
              <a:sym typeface="思源黑体" panose="020B0500000000000000" pitchFamily="34" charset="-122"/>
            </a:endParaRPr>
          </a:p>
        </p:txBody>
      </p:sp>
      <p:sp>
        <p:nvSpPr>
          <p:cNvPr id="63" name="TextBox 11"/>
          <p:cNvSpPr txBox="1"/>
          <p:nvPr>
            <p:custDataLst>
              <p:tags r:id="rId8"/>
            </p:custDataLst>
          </p:nvPr>
        </p:nvSpPr>
        <p:spPr>
          <a:xfrm flipH="1">
            <a:off x="6710604" y="4596409"/>
            <a:ext cx="4088895" cy="17511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前泰盈科技集团副总裁，全权负责泰盈科技日常运营管理，并曾任职中国移动集团天津公司高级项目经理。国家人社部数据标注高级评审师，天津市五一劳动奖章获得者。</a:t>
            </a:r>
            <a:endParaRPr lang="en-US" altLang="zh-CN" sz="10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zh-CN" altLang="en-US" sz="10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多年的大型国企和知名民营上市公司管理实践，在服务外包行业策略制定、规划与实施、文化与绩效激励，管理培养，精益运营等方面积累丰富的实战经验，具备超强业务订单获取和超大型团队项目管理能力。</a:t>
            </a:r>
            <a:endParaRPr lang="zh-CN" altLang="en-US" sz="10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9"/>
            </p:custDataLst>
          </p:nvPr>
        </p:nvSpPr>
        <p:spPr>
          <a:xfrm>
            <a:off x="7647325" y="4236620"/>
            <a:ext cx="2086352" cy="299683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联合创始人</a:t>
            </a:r>
            <a:endParaRPr kumimoji="1" lang="zh-CN" altLang="en-US" sz="1335" b="1" i="0" u="none" strike="noStrike" kern="0" cap="none" spc="0" normalizeH="0" baseline="0" noProof="0" dirty="0">
              <a:ln>
                <a:noFill/>
              </a:ln>
              <a:solidFill>
                <a:srgbClr val="1D78F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TextBox 18"/>
          <p:cNvSpPr txBox="1"/>
          <p:nvPr>
            <p:custDataLst>
              <p:tags r:id="rId10"/>
            </p:custDataLst>
          </p:nvPr>
        </p:nvSpPr>
        <p:spPr>
          <a:xfrm>
            <a:off x="7830606" y="3885297"/>
            <a:ext cx="1524658" cy="2870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商立江</a:t>
            </a:r>
            <a:endParaRPr lang="zh-CN" altLang="en-US" sz="1865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5" name="图片 4" descr="64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298752" y="871112"/>
            <a:ext cx="4462229" cy="2924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9285" y="918845"/>
            <a:ext cx="2842260" cy="27736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62305" y="68897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核心团队介绍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/>
          </a:p>
        </p:txBody>
      </p:sp>
      <p:pic>
        <p:nvPicPr>
          <p:cNvPr id="19" name="图片 18" descr="C:/Users/10703/Desktop/图片1.png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r="542"/>
          <a:stretch>
            <a:fillRect/>
          </a:stretch>
        </p:blipFill>
        <p:spPr>
          <a:xfrm>
            <a:off x="2213924" y="1323902"/>
            <a:ext cx="2395476" cy="2368389"/>
          </a:xfrm>
          <a:prstGeom prst="rect">
            <a:avLst/>
          </a:prstGeom>
        </p:spPr>
      </p:pic>
      <p:sp>
        <p:nvSpPr>
          <p:cNvPr id="33" name="Rectangle 6"/>
          <p:cNvSpPr/>
          <p:nvPr>
            <p:custDataLst>
              <p:tags r:id="rId4"/>
            </p:custDataLst>
          </p:nvPr>
        </p:nvSpPr>
        <p:spPr>
          <a:xfrm>
            <a:off x="1059180" y="3596005"/>
            <a:ext cx="4368800" cy="3014980"/>
          </a:xfrm>
          <a:prstGeom prst="rect">
            <a:avLst/>
          </a:prstGeom>
          <a:gradFill flip="none" rotWithShape="1">
            <a:gsLst>
              <a:gs pos="83000">
                <a:srgbClr val="1D78FA"/>
              </a:gs>
              <a:gs pos="7000">
                <a:srgbClr val="1D78FA">
                  <a:lumMod val="60000"/>
                  <a:lumOff val="40000"/>
                </a:srgbClr>
              </a:gs>
            </a:gsLst>
            <a:lin ang="2700000" scaled="1"/>
            <a:tileRect/>
          </a:gradFill>
          <a:ln w="12700" cap="flat">
            <a:gradFill>
              <a:gsLst>
                <a:gs pos="93878">
                  <a:srgbClr val="1D78FA">
                    <a:lumMod val="20000"/>
                    <a:lumOff val="80000"/>
                  </a:srgbClr>
                </a:gs>
                <a:gs pos="0">
                  <a:srgbClr val="1D78FA">
                    <a:lumMod val="20000"/>
                    <a:lumOff val="8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reflection blurRad="139700" stA="93000" endPos="14000" dir="5400000" sy="-100000" algn="bl" rotWithShape="0"/>
          </a:effectLst>
          <a:scene3d>
            <a:camera prst="orthographicFront"/>
            <a:lightRig rig="contrasting" dir="t"/>
          </a:scene3d>
          <a:sp3d extrusionH="311150"/>
        </p:spPr>
        <p:txBody>
          <a:bodyPr rtlCol="0" anchor="ctr"/>
          <a:p>
            <a:pPr algn="ctr"/>
            <a:endParaRPr lang="en-US" sz="1065" kern="0" dirty="0">
              <a:solidFill>
                <a:srgbClr val="000000"/>
              </a:solidFill>
              <a:latin typeface="Roboto Regular"/>
              <a:ea typeface="思源黑体 CN Regular" panose="020B0500000000000000" charset="-122"/>
              <a:sym typeface="思源黑体" panose="020B0500000000000000" pitchFamily="34" charset="-122"/>
            </a:endParaRPr>
          </a:p>
        </p:txBody>
      </p:sp>
      <p:sp>
        <p:nvSpPr>
          <p:cNvPr id="34" name="TextBox 11"/>
          <p:cNvSpPr txBox="1"/>
          <p:nvPr>
            <p:custDataLst>
              <p:tags r:id="rId5"/>
            </p:custDataLst>
          </p:nvPr>
        </p:nvSpPr>
        <p:spPr>
          <a:xfrm flipH="1">
            <a:off x="1348105" y="4662805"/>
            <a:ext cx="4057015" cy="21043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吕国峰，阿里公益之星，阿里杰出校友，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近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年专业助残经验和众多互联网就业资源，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致力于残疾人全产业发展推动，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康复、培训、就业、婚恋、电商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作为阿里杰出校友，秉承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让更多被忽视的人走上有尊严工作岗位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的理念，发挥特搭建此平台，为全国就业贡献一份力，目前已经在全国累计实现近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人全职就业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6"/>
            </p:custDataLst>
          </p:nvPr>
        </p:nvSpPr>
        <p:spPr>
          <a:xfrm>
            <a:off x="2213610" y="4237990"/>
            <a:ext cx="2122805" cy="35814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联合创始人兼</a:t>
            </a:r>
            <a:r>
              <a:rPr kumimoji="1" lang="en-US" altLang="zh-CN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CEO</a:t>
            </a:r>
            <a:endParaRPr kumimoji="1" lang="en-US" altLang="zh-CN" sz="1335" b="1" i="0" u="none" strike="noStrike" kern="0" cap="none" spc="0" normalizeH="0" baseline="0" noProof="0" dirty="0">
              <a:ln>
                <a:noFill/>
              </a:ln>
              <a:solidFill>
                <a:srgbClr val="1D78F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TextBox 18"/>
          <p:cNvSpPr txBox="1"/>
          <p:nvPr>
            <p:custDataLst>
              <p:tags r:id="rId7"/>
            </p:custDataLst>
          </p:nvPr>
        </p:nvSpPr>
        <p:spPr>
          <a:xfrm>
            <a:off x="2475230" y="3875405"/>
            <a:ext cx="1551305" cy="3435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吕国峰</a:t>
            </a:r>
            <a:endParaRPr lang="zh-CN" altLang="en-US" sz="1865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" name="Rectangle 6"/>
          <p:cNvSpPr/>
          <p:nvPr>
            <p:custDataLst>
              <p:tags r:id="rId8"/>
            </p:custDataLst>
          </p:nvPr>
        </p:nvSpPr>
        <p:spPr>
          <a:xfrm>
            <a:off x="6095365" y="3595370"/>
            <a:ext cx="4845050" cy="3015615"/>
          </a:xfrm>
          <a:prstGeom prst="rect">
            <a:avLst/>
          </a:prstGeom>
          <a:gradFill flip="none" rotWithShape="1">
            <a:gsLst>
              <a:gs pos="83000">
                <a:srgbClr val="1D78FA"/>
              </a:gs>
              <a:gs pos="7000">
                <a:srgbClr val="1D78FA">
                  <a:lumMod val="60000"/>
                  <a:lumOff val="40000"/>
                </a:srgbClr>
              </a:gs>
            </a:gsLst>
            <a:lin ang="2700000" scaled="1"/>
            <a:tileRect/>
          </a:gradFill>
          <a:ln w="12700" cap="flat">
            <a:gradFill>
              <a:gsLst>
                <a:gs pos="93878">
                  <a:srgbClr val="1D78FA">
                    <a:lumMod val="20000"/>
                    <a:lumOff val="80000"/>
                  </a:srgbClr>
                </a:gs>
                <a:gs pos="0">
                  <a:srgbClr val="1D78FA">
                    <a:lumMod val="20000"/>
                    <a:lumOff val="8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reflection blurRad="139700" stA="93000" endPos="14000" dir="5400000" sy="-100000" algn="bl" rotWithShape="0"/>
          </a:effectLst>
          <a:scene3d>
            <a:camera prst="orthographicFront"/>
            <a:lightRig rig="contrasting" dir="t"/>
          </a:scene3d>
          <a:sp3d extrusionH="311150"/>
        </p:spPr>
        <p:txBody>
          <a:bodyPr rtlCol="0" anchor="ctr"/>
          <a:p>
            <a:pPr algn="ctr"/>
            <a:endParaRPr lang="en-US" sz="1065" kern="0" dirty="0">
              <a:solidFill>
                <a:srgbClr val="000000"/>
              </a:solidFill>
              <a:latin typeface="Roboto Regular"/>
              <a:ea typeface="思源黑体 CN Regular" panose="020B0500000000000000" charset="-122"/>
              <a:sym typeface="思源黑体" panose="020B0500000000000000" pitchFamily="34" charset="-122"/>
            </a:endParaRPr>
          </a:p>
        </p:txBody>
      </p:sp>
      <p:sp>
        <p:nvSpPr>
          <p:cNvPr id="7" name="TextBox 11"/>
          <p:cNvSpPr txBox="1"/>
          <p:nvPr>
            <p:custDataLst>
              <p:tags r:id="rId9"/>
            </p:custDataLst>
          </p:nvPr>
        </p:nvSpPr>
        <p:spPr>
          <a:xfrm flipH="1">
            <a:off x="6214110" y="4533265"/>
            <a:ext cx="4587240" cy="21761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技术合伙人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邱生峰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首席技术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合伙人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身份资质：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waic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上海铜奖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获得者，言语障碍残友，为让世界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声声不息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，燃言大语言模型首创者，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耗时半年时间研发，已做到8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%识别率，行业第一，相关成果已在阿里巴巴等专篇报道</a:t>
            </a:r>
            <a:r>
              <a:rPr lang="zh-CN" altLang="en-US" sz="12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技术实力：</a:t>
            </a:r>
            <a:r>
              <a:rPr lang="zh-CN" altLang="en-US" sz="12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毕业于重庆大学应用数学系，曾负责某公司智驾算法，现专注言语障碍大模型识别，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合作模式：项目独家首席技术合伙人</a:t>
            </a:r>
            <a:r>
              <a:rPr lang="en-US" sz="12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，全面负责相关大模型研发和技术路线把控等。</a:t>
            </a:r>
            <a:endParaRPr lang="en-US" sz="1200" b="0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endParaRPr lang="en-US" altLang="en-US" sz="1200" b="0" i="0" u="none" strike="noStrike" dirty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7188200" y="4086225"/>
            <a:ext cx="2423795" cy="452755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联合创始人</a:t>
            </a:r>
            <a:r>
              <a:rPr kumimoji="1" lang="en-US" altLang="zh-CN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&amp;</a:t>
            </a:r>
            <a:r>
              <a:rPr kumimoji="1" lang="zh-CN" altLang="en-US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技术</a:t>
            </a:r>
            <a:r>
              <a:rPr kumimoji="1" lang="zh-CN" altLang="en-US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合伙人</a:t>
            </a:r>
            <a:endParaRPr kumimoji="1" lang="zh-CN" altLang="en-US" sz="1335" b="1" i="0" u="none" strike="noStrike" kern="0" cap="none" spc="0" normalizeH="0" baseline="0" noProof="0" dirty="0">
              <a:ln>
                <a:noFill/>
              </a:ln>
              <a:solidFill>
                <a:srgbClr val="1D78F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TextBox 18"/>
          <p:cNvSpPr txBox="1"/>
          <p:nvPr>
            <p:custDataLst>
              <p:tags r:id="rId11"/>
            </p:custDataLst>
          </p:nvPr>
        </p:nvSpPr>
        <p:spPr>
          <a:xfrm>
            <a:off x="6499860" y="3732530"/>
            <a:ext cx="3800475" cy="4343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邱生</a:t>
            </a: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峰</a:t>
            </a:r>
            <a:endParaRPr lang="zh-CN" altLang="en-US" sz="1865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662305" y="68897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核心团队介绍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/>
          </a:p>
        </p:txBody>
      </p:sp>
      <p:pic>
        <p:nvPicPr>
          <p:cNvPr id="3" name="图片 2" descr="ScreenShot_2026-06-18_155559_9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855" y="1849120"/>
            <a:ext cx="3552825" cy="4002405"/>
          </a:xfrm>
          <a:prstGeom prst="rect">
            <a:avLst/>
          </a:prstGeom>
        </p:spPr>
      </p:pic>
      <p:sp>
        <p:nvSpPr>
          <p:cNvPr id="6" name="Rectangle 6"/>
          <p:cNvSpPr/>
          <p:nvPr>
            <p:custDataLst>
              <p:tags r:id="rId2"/>
            </p:custDataLst>
          </p:nvPr>
        </p:nvSpPr>
        <p:spPr>
          <a:xfrm>
            <a:off x="4791075" y="1778000"/>
            <a:ext cx="5980430" cy="3992880"/>
          </a:xfrm>
          <a:prstGeom prst="rect">
            <a:avLst/>
          </a:prstGeom>
          <a:gradFill flip="none" rotWithShape="1">
            <a:gsLst>
              <a:gs pos="83000">
                <a:srgbClr val="1D78FA"/>
              </a:gs>
              <a:gs pos="7000">
                <a:srgbClr val="1D78FA">
                  <a:lumMod val="60000"/>
                  <a:lumOff val="40000"/>
                </a:srgbClr>
              </a:gs>
            </a:gsLst>
            <a:lin ang="2700000" scaled="1"/>
            <a:tileRect/>
          </a:gradFill>
          <a:ln w="12700" cap="flat">
            <a:gradFill>
              <a:gsLst>
                <a:gs pos="93878">
                  <a:srgbClr val="1D78FA">
                    <a:lumMod val="20000"/>
                    <a:lumOff val="80000"/>
                  </a:srgbClr>
                </a:gs>
                <a:gs pos="0">
                  <a:srgbClr val="1D78FA">
                    <a:lumMod val="20000"/>
                    <a:lumOff val="8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reflection blurRad="139700" stA="93000" endPos="14000" dir="5400000" sy="-100000" algn="bl" rotWithShape="0"/>
          </a:effectLst>
          <a:scene3d>
            <a:camera prst="orthographicFront"/>
            <a:lightRig rig="contrasting" dir="t"/>
          </a:scene3d>
          <a:sp3d extrusionH="311150"/>
        </p:spPr>
        <p:txBody>
          <a:bodyPr rtlCol="0" anchor="ctr"/>
          <a:p>
            <a:pPr algn="ctr"/>
            <a:endParaRPr lang="en-US" sz="1065" kern="0" dirty="0">
              <a:solidFill>
                <a:srgbClr val="000000"/>
              </a:solidFill>
              <a:latin typeface="Roboto Regular"/>
              <a:ea typeface="思源黑体 CN Regular" panose="020B0500000000000000" charset="-122"/>
              <a:sym typeface="思源黑体" panose="020B0500000000000000" pitchFamily="34" charset="-122"/>
            </a:endParaRPr>
          </a:p>
        </p:txBody>
      </p:sp>
      <p:sp>
        <p:nvSpPr>
          <p:cNvPr id="7" name="TextBox 11"/>
          <p:cNvSpPr txBox="1"/>
          <p:nvPr>
            <p:custDataLst>
              <p:tags r:id="rId3"/>
            </p:custDataLst>
          </p:nvPr>
        </p:nvSpPr>
        <p:spPr>
          <a:xfrm flipH="1">
            <a:off x="4902200" y="2799715"/>
            <a:ext cx="5709920" cy="264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技术合伙人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浙江省顶尖人才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身份资质：杭电学术副校长、浙江省人工智能学院院长、博导，省级官方顶尖人才头衔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对口领域：非标残缺语音处理、小样本大模型微调、医疗无障碍人机交互，精准匹配言语障碍沟通场景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技术实力：主持国家级语音专项课题，顶会论文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算法专利储备，自带硕博专职研发团队与高校实验室算力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合作模式：项目独家深度技术合伙人，签订产学研绑定协议，合伙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推动算法迭代、临床实测、涂鸦硬件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SDK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适配、医疗资质申报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l">
              <a:lnSpc>
                <a:spcPct val="140000"/>
              </a:lnSpc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团队分工：技术攻坚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产业资源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线下落地三维互补，为项目构建不可复刻的技术壁垒与落地能力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133465" y="2296160"/>
            <a:ext cx="3128010" cy="452755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技术</a:t>
            </a:r>
            <a:r>
              <a:rPr kumimoji="1" lang="zh-CN" altLang="en-US" sz="1335" b="1" i="0" u="none" strike="noStrike" kern="0" cap="none" spc="0" normalizeH="0" baseline="0" noProof="0" dirty="0">
                <a:ln>
                  <a:noFill/>
                </a:ln>
                <a:solidFill>
                  <a:srgbClr val="1D78FA"/>
                </a:solidFill>
                <a:effectLst/>
                <a:uLnTx/>
                <a:uFillTx/>
                <a:latin typeface="+mn-ea"/>
              </a:rPr>
              <a:t>合伙人</a:t>
            </a:r>
            <a:endParaRPr kumimoji="1" lang="zh-CN" altLang="en-US" sz="1335" b="1" i="0" u="none" strike="noStrike" kern="0" cap="none" spc="0" normalizeH="0" baseline="0" noProof="0" dirty="0">
              <a:ln>
                <a:noFill/>
              </a:ln>
              <a:solidFill>
                <a:srgbClr val="1D78FA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TextBox 18"/>
          <p:cNvSpPr txBox="1"/>
          <p:nvPr>
            <p:custDataLst>
              <p:tags r:id="rId5"/>
            </p:custDataLst>
          </p:nvPr>
        </p:nvSpPr>
        <p:spPr>
          <a:xfrm>
            <a:off x="5690870" y="1861820"/>
            <a:ext cx="3800475" cy="4343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李攀</a:t>
            </a:r>
            <a:r>
              <a:rPr lang="zh-CN" altLang="en-US" sz="1865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教授</a:t>
            </a:r>
            <a:endParaRPr lang="zh-CN" altLang="en-US" sz="1865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662305" y="68897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核心优势1：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公司拥有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独家海量用户资源</a:t>
            </a:r>
            <a:endParaRPr lang="en-US" sz="1100"/>
          </a:p>
        </p:txBody>
      </p:sp>
      <p:sp>
        <p:nvSpPr>
          <p:cNvPr id="3" name="AutoShape 4"/>
          <p:cNvSpPr/>
          <p:nvPr/>
        </p:nvSpPr>
        <p:spPr>
          <a:xfrm>
            <a:off x="445770" y="1625600"/>
            <a:ext cx="4459605" cy="369252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2365" y="199834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稀缺数据源头</a:t>
            </a:r>
            <a:endParaRPr lang="en-US" sz="18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84835" y="2379345"/>
            <a:ext cx="4163060" cy="2820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endParaRPr lang="zh-CN" altLang="en-US" sz="1600" b="1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endParaRPr lang="zh-CN" altLang="en-US" sz="1600" b="1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"/>
              <a:defRPr/>
            </a:pPr>
            <a:r>
              <a:rPr lang="zh-CN" alt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公司创始人吕国峰，原阿里巴巴高管，荣获</a:t>
            </a:r>
            <a:r>
              <a:rPr lang="en-US" altLang="zh-CN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年度阿里公益之星</a:t>
            </a:r>
            <a:r>
              <a:rPr lang="en-US" altLang="zh-CN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altLang="zh-CN" sz="1600" b="1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"/>
              <a:defRPr/>
            </a:pPr>
            <a:r>
              <a:rPr lang="zh-CN" alt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可触达</a:t>
            </a:r>
            <a:r>
              <a:rPr lang="en-US" altLang="zh-CN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000+言语障碍人力资源，可提供AI模型训练最需要的</a:t>
            </a:r>
            <a:r>
              <a:rPr lang="en-US" sz="16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非标发音语音数据，</a:t>
            </a:r>
            <a:r>
              <a:rPr lang="en-US" sz="16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全周期产品验证</a:t>
            </a:r>
            <a:endParaRPr lang="en-US" sz="1600" b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"/>
              <a:defRPr/>
            </a:pPr>
            <a:r>
              <a:rPr lang="en-US" sz="1600" b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可快速组织真实用户参与产品内测、体验、反馈、持续迭代，精准贴合真实市场需求</a:t>
            </a:r>
            <a:endParaRPr lang="en-US" sz="1600" b="1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"/>
              <a:defRPr/>
            </a:pPr>
            <a:endParaRPr lang="en-US" sz="1600" b="1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buFont typeface="Wingdings" panose="05000000000000000000" charset="0"/>
              <a:buNone/>
              <a:defRPr/>
            </a:pPr>
            <a:r>
              <a:rPr lang="en-US" sz="1800" b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</a:t>
            </a:r>
            <a:endParaRPr lang="en-US" sz="1800" b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endParaRPr lang="en-US" sz="1600" b="1"/>
          </a:p>
        </p:txBody>
      </p:sp>
      <p:sp>
        <p:nvSpPr>
          <p:cNvPr id="10" name="AutoShape 10"/>
          <p:cNvSpPr/>
          <p:nvPr/>
        </p:nvSpPr>
        <p:spPr>
          <a:xfrm>
            <a:off x="475615" y="4812030"/>
            <a:ext cx="278765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8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5"/>
          <p:cNvSpPr/>
          <p:nvPr/>
        </p:nvSpPr>
        <p:spPr>
          <a:xfrm>
            <a:off x="3853180" y="5619750"/>
            <a:ext cx="6568440" cy="474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endParaRPr lang="en-US" sz="1800" b="1"/>
          </a:p>
        </p:txBody>
      </p:sp>
      <p:pic>
        <p:nvPicPr>
          <p:cNvPr id="17" name="图片 16" descr="3988cb5f99537b75b68a087e0f81cc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9620" y="1915795"/>
            <a:ext cx="2462530" cy="3114040"/>
          </a:xfrm>
          <a:prstGeom prst="rect">
            <a:avLst/>
          </a:prstGeom>
        </p:spPr>
      </p:pic>
      <p:pic>
        <p:nvPicPr>
          <p:cNvPr id="18" name="图片 17" descr="cefcb399d4189fdfe890fe65230183d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30" y="1880870"/>
            <a:ext cx="4458335" cy="3181985"/>
          </a:xfrm>
          <a:prstGeom prst="rect">
            <a:avLst/>
          </a:prstGeom>
        </p:spPr>
      </p:pic>
      <p:sp>
        <p:nvSpPr>
          <p:cNvPr id="14" name="流程图: 联系 13"/>
          <p:cNvSpPr/>
          <p:nvPr/>
        </p:nvSpPr>
        <p:spPr>
          <a:xfrm>
            <a:off x="7347585" y="2603500"/>
            <a:ext cx="1894205" cy="656590"/>
          </a:xfrm>
          <a:prstGeom prst="flowChartConnector">
            <a:avLst/>
          </a:prstGeom>
          <a:ln w="47625" cmpd="sng">
            <a:solidFill>
              <a:srgbClr val="00B05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AutoShape 16"/>
          <p:cNvSpPr/>
          <p:nvPr/>
        </p:nvSpPr>
        <p:spPr>
          <a:xfrm>
            <a:off x="401955" y="5659120"/>
            <a:ext cx="11474450" cy="899160"/>
          </a:xfrm>
          <a:prstGeom prst="roundRect">
            <a:avLst>
              <a:gd name="adj" fmla="val 15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17"/>
          <p:cNvSpPr/>
          <p:nvPr/>
        </p:nvSpPr>
        <p:spPr>
          <a:xfrm>
            <a:off x="584835" y="5758815"/>
            <a:ext cx="1108583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rgbClr val="002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直击行业痛点</a:t>
            </a:r>
            <a:r>
              <a:rPr lang="en-US" altLang="zh-CN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一站式解决“缺数据、缺用户、缺场景”三大核心痛点，极大降低试错成本 获客门槛</a:t>
            </a:r>
            <a:endParaRPr lang="en-US" sz="20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优势1：我们的不可复制壁垒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/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8500" y="2413000"/>
            <a:ext cx="889000" cy="8890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889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独家数据渠道</a:t>
            </a:r>
            <a:endParaRPr lang="en-US" sz="1100"/>
          </a:p>
        </p:txBody>
      </p:sp>
      <p:sp>
        <p:nvSpPr>
          <p:cNvPr id="8" name="AutoShape 7"/>
          <p:cNvSpPr/>
          <p:nvPr/>
        </p:nvSpPr>
        <p:spPr>
          <a:xfrm>
            <a:off x="889000" y="431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打通残联与医院系统，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直达并触达千万级障碍人群</a:t>
            </a:r>
            <a:endParaRPr lang="en-US" sz="1100"/>
          </a:p>
        </p:txBody>
      </p:sp>
      <p:sp>
        <p:nvSpPr>
          <p:cNvPr id="9" name="AutoShape 8"/>
          <p:cNvSpPr/>
          <p:nvPr/>
        </p:nvSpPr>
        <p:spPr>
          <a:xfrm>
            <a:off x="4445000" y="2032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/>
        </p:nvSpPr>
        <p:spPr>
          <a:xfrm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1500" y="2413000"/>
            <a:ext cx="889000" cy="889000"/>
          </a:xfrm>
          <a:prstGeom prst="rect">
            <a:avLst/>
          </a:prstGeom>
        </p:spPr>
      </p:pic>
      <p:sp>
        <p:nvSpPr>
          <p:cNvPr id="13" name="AutoShape 11"/>
          <p:cNvSpPr/>
          <p:nvPr/>
        </p:nvSpPr>
        <p:spPr>
          <a:xfrm>
            <a:off x="4572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稀缺数据能力</a:t>
            </a:r>
            <a:endParaRPr lang="en-US" sz="1100"/>
          </a:p>
        </p:txBody>
      </p:sp>
      <p:sp>
        <p:nvSpPr>
          <p:cNvPr id="14" name="AutoShape 12"/>
          <p:cNvSpPr/>
          <p:nvPr/>
        </p:nvSpPr>
        <p:spPr>
          <a:xfrm>
            <a:off x="4572000" y="431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具备生产并标注能力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AI训练最急需的非标化场景数据</a:t>
            </a:r>
            <a:endParaRPr lang="en-US" sz="1100"/>
          </a:p>
        </p:txBody>
      </p:sp>
      <p:sp>
        <p:nvSpPr>
          <p:cNvPr id="15" name="AutoShape 13"/>
          <p:cNvSpPr/>
          <p:nvPr/>
        </p:nvSpPr>
        <p:spPr>
          <a:xfrm>
            <a:off x="8128000" y="2032000"/>
            <a:ext cx="3302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/>
        </p:nvSpPr>
        <p:spPr>
          <a:xfrm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2413000"/>
            <a:ext cx="889000" cy="889000"/>
          </a:xfrm>
          <a:prstGeom prst="rect">
            <a:avLst/>
          </a:prstGeom>
        </p:spPr>
      </p:pic>
      <p:sp>
        <p:nvSpPr>
          <p:cNvPr id="18" name="AutoShape 16"/>
          <p:cNvSpPr/>
          <p:nvPr/>
        </p:nvSpPr>
        <p:spPr>
          <a:xfrm>
            <a:off x="8255000" y="355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 + 渠道双重保障</a:t>
            </a:r>
            <a:endParaRPr lang="en-US" sz="1100"/>
          </a:p>
        </p:txBody>
      </p:sp>
      <p:sp>
        <p:nvSpPr>
          <p:cNvPr id="19" name="AutoShape 17"/>
          <p:cNvSpPr/>
          <p:nvPr/>
        </p:nvSpPr>
        <p:spPr>
          <a:xfrm>
            <a:off x="8255000" y="431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深谙行业准入规则，快速切入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政企集中采购与公益服务项目</a:t>
            </a:r>
            <a:endParaRPr lang="en-US" sz="1100"/>
          </a:p>
        </p:txBody>
      </p:sp>
      <p:sp>
        <p:nvSpPr>
          <p:cNvPr id="20" name="AutoShape 18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19"/>
          <p:cNvSpPr/>
          <p:nvPr/>
        </p:nvSpPr>
        <p:spPr>
          <a:xfrm>
            <a:off x="762000" y="552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别人缺数据，</a:t>
            </a: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我们就是数据源头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06120" y="73279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核心优势2：垂直场景理解与政策资源</a:t>
            </a:r>
            <a:r>
              <a:rPr lang="zh-CN" alt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打通销售端“最后1公里”</a:t>
            </a:r>
            <a:endParaRPr lang="en-US" altLang="zh-CN" sz="2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06120" y="1609725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06120" y="1609725"/>
            <a:ext cx="5207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120" y="2117725"/>
            <a:ext cx="609600" cy="6096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1976120" y="2117725"/>
            <a:ext cx="382587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杭州燃言</a:t>
            </a:r>
            <a:r>
              <a:rPr lang="en-US" altLang="zh-CN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垂直场景深度理解</a:t>
            </a:r>
            <a:endParaRPr lang="en-US" sz="1100"/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1087120" y="3260725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深耕残疾人就业服务领域，精准洞察用户在日常沟通协作、办公就业、医疗康复等高频场景中的真实痛点与核心需求。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凭借</a:t>
            </a:r>
            <a:r>
              <a:rPr lang="en-US" sz="1400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“懂政策、懂用户、懂场景”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的三位一体认知，拒绝功能堆砌，确保产品功能设计精准匹配用户实际需求。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endParaRPr lang="en-US" altLang="zh-CN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6167120" y="1609725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9"/>
            </p:custDataLst>
          </p:nvPr>
        </p:nvSpPr>
        <p:spPr>
          <a:xfrm>
            <a:off x="6167120" y="1609725"/>
            <a:ext cx="5207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8120" y="2117725"/>
            <a:ext cx="609600" cy="609600"/>
          </a:xfrm>
          <a:prstGeom prst="rect">
            <a:avLst/>
          </a:prstGeom>
        </p:spPr>
      </p:pic>
      <p:sp>
        <p:nvSpPr>
          <p:cNvPr id="13" name="AutoShape 11"/>
          <p:cNvSpPr/>
          <p:nvPr>
            <p:custDataLst>
              <p:tags r:id="rId13"/>
            </p:custDataLst>
          </p:nvPr>
        </p:nvSpPr>
        <p:spPr>
          <a:xfrm>
            <a:off x="7157720" y="2117725"/>
            <a:ext cx="3987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杭州燃言</a:t>
            </a:r>
            <a:r>
              <a:rPr lang="en-US" altLang="zh-CN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政策合规与资源对接</a:t>
            </a:r>
            <a:endParaRPr lang="en-US" sz="1100"/>
          </a:p>
        </p:txBody>
      </p:sp>
      <p:sp>
        <p:nvSpPr>
          <p:cNvPr id="14" name="AutoShape 12"/>
          <p:cNvSpPr/>
          <p:nvPr>
            <p:custDataLst>
              <p:tags r:id="rId14"/>
            </p:custDataLst>
          </p:nvPr>
        </p:nvSpPr>
        <p:spPr>
          <a:xfrm>
            <a:off x="6548120" y="3329305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深谙国家及地方残疾人保障与就业相关法律法规及扶持政策，拥有成熟渠道快速链接各级残联、民政部门及康复医院等核心机构。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持有专业的残疾人就业服务资质，打通“用户需求-产品供给-专业服务”的完整商业闭环，</a:t>
            </a:r>
            <a:r>
              <a:rPr lang="zh-CN" altLang="en-US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我司员工即是产品核心使用者</a:t>
            </a:r>
            <a:r>
              <a:rPr lang="zh-CN" altLang="en-US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，借助相关传播，快速获得相关曝光和传播</a:t>
            </a:r>
            <a:r>
              <a:rPr lang="en-US" altLang="zh-CN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altLang="zh-CN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5"/>
          <p:cNvSpPr/>
          <p:nvPr/>
        </p:nvSpPr>
        <p:spPr>
          <a:xfrm>
            <a:off x="3853180" y="5735320"/>
            <a:ext cx="6568440" cy="474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endParaRPr lang="en-US" sz="1800" b="1"/>
          </a:p>
        </p:txBody>
      </p:sp>
      <p:sp>
        <p:nvSpPr>
          <p:cNvPr id="20" name="AutoShape 16"/>
          <p:cNvSpPr/>
          <p:nvPr/>
        </p:nvSpPr>
        <p:spPr>
          <a:xfrm>
            <a:off x="499110" y="5774690"/>
            <a:ext cx="11023600" cy="899160"/>
          </a:xfrm>
          <a:prstGeom prst="roundRect">
            <a:avLst>
              <a:gd name="adj" fmla="val 15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17"/>
          <p:cNvSpPr/>
          <p:nvPr/>
        </p:nvSpPr>
        <p:spPr>
          <a:xfrm>
            <a:off x="584835" y="5874385"/>
            <a:ext cx="10789285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rgbClr val="002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直击行业痛点</a:t>
            </a:r>
            <a:r>
              <a:rPr lang="en-US" altLang="zh-CN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一站式解决“缺数据、缺用户、缺场景”三大核心痛点，极大降低试错成本 获客门槛</a:t>
            </a:r>
            <a:endParaRPr lang="en-US" sz="20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06120" y="73279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核心优势3：</a:t>
            </a:r>
            <a:r>
              <a:rPr lang="zh-CN" alt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先发优势，竞对</a:t>
            </a:r>
            <a:r>
              <a:rPr lang="zh-CN" alt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将落地我司</a:t>
            </a:r>
            <a:r>
              <a:rPr lang="en-US" altLang="zh-CN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zh-CN" alt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年以上</a:t>
            </a:r>
            <a:endParaRPr lang="zh-CN" altLang="en-US" sz="2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06120" y="1609725"/>
            <a:ext cx="5207000" cy="43738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06120" y="1609725"/>
            <a:ext cx="5207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7120" y="2117725"/>
            <a:ext cx="609600" cy="6096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1835785" y="2117725"/>
            <a:ext cx="419163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现有算法端</a:t>
            </a:r>
            <a:r>
              <a:rPr lang="zh-CN" alt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语音识别率达到</a:t>
            </a:r>
            <a:r>
              <a:rPr lang="en-US" altLang="zh-CN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</a:t>
            </a:r>
            <a:endParaRPr lang="en-US" altLang="zh-CN" sz="2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1075690" y="2828925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我司首席技术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负责人，邱生峰，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28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岁，言语障碍残友，毕业于重庆大学应用数学系，曾负责某公司智驾算法，现专注言语障碍大模型识别，耗时半年时间研发，已做到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识别率，行业第一，相关成果已在阿里巴巴等专篇报道。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endParaRPr lang="en-US" altLang="zh-CN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6167120" y="1609725"/>
            <a:ext cx="5207000" cy="43738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9"/>
            </p:custDataLst>
          </p:nvPr>
        </p:nvSpPr>
        <p:spPr>
          <a:xfrm>
            <a:off x="6167120" y="1609725"/>
            <a:ext cx="5207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8120" y="2117725"/>
            <a:ext cx="609600" cy="609600"/>
          </a:xfrm>
          <a:prstGeom prst="rect">
            <a:avLst/>
          </a:prstGeom>
        </p:spPr>
      </p:pic>
      <p:sp>
        <p:nvSpPr>
          <p:cNvPr id="13" name="AutoShape 11"/>
          <p:cNvSpPr/>
          <p:nvPr>
            <p:custDataLst>
              <p:tags r:id="rId13"/>
            </p:custDataLst>
          </p:nvPr>
        </p:nvSpPr>
        <p:spPr>
          <a:xfrm>
            <a:off x="7157720" y="2117725"/>
            <a:ext cx="3987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先发优势，竟对产品差价</a:t>
            </a:r>
            <a:r>
              <a:rPr lang="en-US" altLang="zh-CN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2000</a:t>
            </a:r>
            <a:r>
              <a:rPr lang="zh-CN" alt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</a:t>
            </a:r>
            <a:endParaRPr lang="zh-CN" altLang="en-US" sz="2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2"/>
          <p:cNvSpPr/>
          <p:nvPr>
            <p:custDataLst>
              <p:tags r:id="rId14"/>
            </p:custDataLst>
          </p:nvPr>
        </p:nvSpPr>
        <p:spPr>
          <a:xfrm>
            <a:off x="6548120" y="289687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spcBef>
                <a:spcPts val="1000"/>
              </a:spcBef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硬件产品进入残联等采购目录，需要二类医疗器械注册证，全流程需准备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 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年，完成智能眼镜硬件开发后进行医疗器械注册，提前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抢占布局。</a:t>
            </a:r>
            <a:endParaRPr lang="zh-CN" alt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1000"/>
              </a:spcBef>
              <a:defRPr/>
            </a:pP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参考现有智能眼镜端补贴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2000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支，则竟对产品将与我司差价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2000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元，不具备竞争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优势。</a:t>
            </a:r>
            <a:endParaRPr lang="zh-CN" alt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  <a:spcBef>
                <a:spcPts val="1500"/>
              </a:spcBef>
            </a:pP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548120" y="4655185"/>
            <a:ext cx="2419350" cy="11995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967470" y="4655185"/>
            <a:ext cx="2178050" cy="1130935"/>
          </a:xfrm>
          <a:prstGeom prst="rect">
            <a:avLst/>
          </a:prstGeom>
        </p:spPr>
      </p:pic>
      <p:pic>
        <p:nvPicPr>
          <p:cNvPr id="18" name="图片 17"/>
          <p:cNvPicPr/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3670935" y="4655820"/>
            <a:ext cx="1945005" cy="10922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181735" y="4655820"/>
            <a:ext cx="2415540" cy="1092200"/>
          </a:xfrm>
          <a:prstGeom prst="rect">
            <a:avLst/>
          </a:prstGeom>
        </p:spPr>
      </p:pic>
      <p:sp>
        <p:nvSpPr>
          <p:cNvPr id="22" name="矩形 21"/>
          <p:cNvSpPr/>
          <p:nvPr>
            <p:custDataLst>
              <p:tags r:id="rId23"/>
            </p:custDataLst>
          </p:nvPr>
        </p:nvSpPr>
        <p:spPr>
          <a:xfrm>
            <a:off x="1100455" y="4573905"/>
            <a:ext cx="4625340" cy="127317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24"/>
            </p:custDataLst>
          </p:nvPr>
        </p:nvSpPr>
        <p:spPr>
          <a:xfrm>
            <a:off x="6548120" y="4574540"/>
            <a:ext cx="4625340" cy="127254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AutoShape 15"/>
          <p:cNvSpPr/>
          <p:nvPr/>
        </p:nvSpPr>
        <p:spPr>
          <a:xfrm>
            <a:off x="3853180" y="5855335"/>
            <a:ext cx="6568440" cy="3543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endParaRPr lang="en-US" sz="1800" b="1"/>
          </a:p>
        </p:txBody>
      </p:sp>
      <p:sp>
        <p:nvSpPr>
          <p:cNvPr id="25" name="AutoShape 16"/>
          <p:cNvSpPr/>
          <p:nvPr/>
        </p:nvSpPr>
        <p:spPr>
          <a:xfrm>
            <a:off x="706120" y="6003925"/>
            <a:ext cx="10667365" cy="669925"/>
          </a:xfrm>
          <a:prstGeom prst="roundRect">
            <a:avLst>
              <a:gd name="adj" fmla="val 15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17"/>
          <p:cNvSpPr/>
          <p:nvPr/>
        </p:nvSpPr>
        <p:spPr>
          <a:xfrm>
            <a:off x="584835" y="6054725"/>
            <a:ext cx="10789285" cy="530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先发优势，利用数据优势提升技术壁垒；先于</a:t>
            </a:r>
            <a:r>
              <a:rPr lang="zh-CN" alt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未来竞品进入采购目标，获取最大</a:t>
            </a:r>
            <a:r>
              <a:rPr lang="zh-CN" alt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差价。</a:t>
            </a:r>
            <a:endParaRPr lang="zh-CN" altLang="en-US" sz="20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20090" y="71882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公司核心定位：连接一切的枢纽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20090" y="211582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/>
        </p:nvSpPr>
        <p:spPr>
          <a:xfrm>
            <a:off x="720090" y="211582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9290" y="2496820"/>
            <a:ext cx="863600" cy="8636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910590" y="363982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角色定位</a:t>
            </a:r>
            <a:endParaRPr lang="en-US" sz="1100"/>
          </a:p>
        </p:txBody>
      </p:sp>
      <p:sp>
        <p:nvSpPr>
          <p:cNvPr id="8" name="AutoShape 7"/>
          <p:cNvSpPr/>
          <p:nvPr/>
        </p:nvSpPr>
        <p:spPr>
          <a:xfrm>
            <a:off x="910590" y="452882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项目发起方 · 用户资源方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产品定义方 · 市场运营方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整合各方资源，聚焦核心优势环节</a:t>
            </a:r>
            <a:endParaRPr lang="en-US" sz="1200" b="0" i="0" u="none" strike="noStrike">
              <a:solidFill>
                <a:srgbClr val="9696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/>
        </p:nvSpPr>
        <p:spPr>
          <a:xfrm>
            <a:off x="4403090" y="211582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/>
        </p:nvSpPr>
        <p:spPr>
          <a:xfrm>
            <a:off x="4403090" y="211582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2290" y="2496820"/>
            <a:ext cx="863600" cy="863600"/>
          </a:xfrm>
          <a:prstGeom prst="rect">
            <a:avLst/>
          </a:prstGeom>
        </p:spPr>
      </p:pic>
      <p:sp>
        <p:nvSpPr>
          <p:cNvPr id="13" name="AutoShape 11"/>
          <p:cNvSpPr/>
          <p:nvPr/>
        </p:nvSpPr>
        <p:spPr>
          <a:xfrm>
            <a:off x="4593590" y="363982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价值定位</a:t>
            </a:r>
            <a:endParaRPr lang="en-US" sz="1100"/>
          </a:p>
        </p:txBody>
      </p:sp>
      <p:sp>
        <p:nvSpPr>
          <p:cNvPr id="14" name="AutoShape 12"/>
          <p:cNvSpPr/>
          <p:nvPr/>
        </p:nvSpPr>
        <p:spPr>
          <a:xfrm>
            <a:off x="4593590" y="452882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连接“用户 - 技术 - 资金 - 市场”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的关键枢纽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打破资源壁垒，实现价值高效流转</a:t>
            </a:r>
            <a:endParaRPr lang="en-US" sz="1200" b="0" i="0" u="none" strike="noStrike">
              <a:solidFill>
                <a:srgbClr val="9696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/>
        </p:nvSpPr>
        <p:spPr>
          <a:xfrm>
            <a:off x="8086090" y="2115820"/>
            <a:ext cx="330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/>
        </p:nvSpPr>
        <p:spPr>
          <a:xfrm>
            <a:off x="8086090" y="211582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05290" y="2496820"/>
            <a:ext cx="863600" cy="863600"/>
          </a:xfrm>
          <a:prstGeom prst="rect">
            <a:avLst/>
          </a:prstGeom>
        </p:spPr>
      </p:pic>
      <p:sp>
        <p:nvSpPr>
          <p:cNvPr id="18" name="AutoShape 16"/>
          <p:cNvSpPr/>
          <p:nvPr/>
        </p:nvSpPr>
        <p:spPr>
          <a:xfrm>
            <a:off x="8276590" y="363982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生态定位</a:t>
            </a:r>
            <a:endParaRPr lang="en-US" sz="1100"/>
          </a:p>
        </p:txBody>
      </p:sp>
      <p:sp>
        <p:nvSpPr>
          <p:cNvPr id="19" name="AutoShape 17"/>
          <p:cNvSpPr/>
          <p:nvPr/>
        </p:nvSpPr>
        <p:spPr>
          <a:xfrm>
            <a:off x="8276590" y="452882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AI终端 · 用户服务 · 数据运营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构建助残科技生态闭环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为听障群体提供全生命周期支持</a:t>
            </a:r>
            <a:endParaRPr lang="en-US" sz="1200" b="0" i="0" u="none" strike="noStrike">
              <a:solidFill>
                <a:srgbClr val="9696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34060" y="84455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商业模式：清晰的盈利闭环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34060" y="2114550"/>
            <a:ext cx="203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34060" y="2114550"/>
            <a:ext cx="203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4460" y="2622550"/>
            <a:ext cx="711200" cy="7112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861060" y="363855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产品销售</a:t>
            </a:r>
            <a:endParaRPr lang="en-US" sz="1100"/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861060" y="45275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智能终端销售</a:t>
            </a:r>
            <a:b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拟</a:t>
            </a: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定价：300 - 4000 元</a:t>
            </a:r>
            <a:endParaRPr lang="en-US" sz="1100"/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3020060" y="2114550"/>
            <a:ext cx="203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9"/>
            </p:custDataLst>
          </p:nvPr>
        </p:nvSpPr>
        <p:spPr>
          <a:xfrm>
            <a:off x="3020060" y="2114550"/>
            <a:ext cx="203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80460" y="2622550"/>
            <a:ext cx="711200" cy="711200"/>
          </a:xfrm>
          <a:prstGeom prst="rect">
            <a:avLst/>
          </a:prstGeom>
        </p:spPr>
      </p:pic>
      <p:sp>
        <p:nvSpPr>
          <p:cNvPr id="13" name="AutoShape 11"/>
          <p:cNvSpPr/>
          <p:nvPr>
            <p:custDataLst>
              <p:tags r:id="rId13"/>
            </p:custDataLst>
          </p:nvPr>
        </p:nvSpPr>
        <p:spPr>
          <a:xfrm>
            <a:off x="3147060" y="363855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订阅服务</a:t>
            </a:r>
            <a:endParaRPr lang="en-US" sz="1100"/>
          </a:p>
        </p:txBody>
      </p:sp>
      <p:sp>
        <p:nvSpPr>
          <p:cNvPr id="14" name="AutoShape 12"/>
          <p:cNvSpPr/>
          <p:nvPr>
            <p:custDataLst>
              <p:tags r:id="rId14"/>
            </p:custDataLst>
          </p:nvPr>
        </p:nvSpPr>
        <p:spPr>
          <a:xfrm>
            <a:off x="3147060" y="45275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AI翻译功能增值会员</a:t>
            </a:r>
            <a:b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拟</a:t>
            </a: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年度订阅：199 元 / 年</a:t>
            </a:r>
            <a:endParaRPr lang="en-US" sz="1100"/>
          </a:p>
        </p:txBody>
      </p:sp>
      <p:sp>
        <p:nvSpPr>
          <p:cNvPr id="15" name="AutoShape 13"/>
          <p:cNvSpPr/>
          <p:nvPr>
            <p:custDataLst>
              <p:tags r:id="rId15"/>
            </p:custDataLst>
          </p:nvPr>
        </p:nvSpPr>
        <p:spPr>
          <a:xfrm>
            <a:off x="5306060" y="2114550"/>
            <a:ext cx="203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>
            <p:custDataLst>
              <p:tags r:id="rId16"/>
            </p:custDataLst>
          </p:nvPr>
        </p:nvSpPr>
        <p:spPr>
          <a:xfrm>
            <a:off x="5306060" y="2114550"/>
            <a:ext cx="203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66460" y="2622550"/>
            <a:ext cx="711200" cy="711200"/>
          </a:xfrm>
          <a:prstGeom prst="rect">
            <a:avLst/>
          </a:prstGeom>
        </p:spPr>
      </p:pic>
      <p:sp>
        <p:nvSpPr>
          <p:cNvPr id="18" name="AutoShape 16"/>
          <p:cNvSpPr/>
          <p:nvPr>
            <p:custDataLst>
              <p:tags r:id="rId20"/>
            </p:custDataLst>
          </p:nvPr>
        </p:nvSpPr>
        <p:spPr>
          <a:xfrm>
            <a:off x="5433060" y="363855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数据授权</a:t>
            </a:r>
            <a:endParaRPr lang="en-US" sz="1100"/>
          </a:p>
        </p:txBody>
      </p:sp>
      <p:sp>
        <p:nvSpPr>
          <p:cNvPr id="19" name="AutoShape 17"/>
          <p:cNvSpPr/>
          <p:nvPr>
            <p:custDataLst>
              <p:tags r:id="rId21"/>
            </p:custDataLst>
          </p:nvPr>
        </p:nvSpPr>
        <p:spPr>
          <a:xfrm>
            <a:off x="5433060" y="45275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脱敏后数据商业化授权</a:t>
            </a:r>
            <a:b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面向AI企业、科研机构</a:t>
            </a:r>
            <a:endParaRPr lang="en-US" sz="1100"/>
          </a:p>
        </p:txBody>
      </p:sp>
      <p:sp>
        <p:nvSpPr>
          <p:cNvPr id="20" name="AutoShape 18"/>
          <p:cNvSpPr/>
          <p:nvPr>
            <p:custDataLst>
              <p:tags r:id="rId22"/>
            </p:custDataLst>
          </p:nvPr>
        </p:nvSpPr>
        <p:spPr>
          <a:xfrm>
            <a:off x="7592060" y="2114550"/>
            <a:ext cx="203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19"/>
          <p:cNvSpPr/>
          <p:nvPr>
            <p:custDataLst>
              <p:tags r:id="rId23"/>
            </p:custDataLst>
          </p:nvPr>
        </p:nvSpPr>
        <p:spPr>
          <a:xfrm>
            <a:off x="7592060" y="2114550"/>
            <a:ext cx="203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52460" y="2622550"/>
            <a:ext cx="711200" cy="711200"/>
          </a:xfrm>
          <a:prstGeom prst="rect">
            <a:avLst/>
          </a:prstGeom>
        </p:spPr>
      </p:pic>
      <p:sp>
        <p:nvSpPr>
          <p:cNvPr id="23" name="AutoShape 21"/>
          <p:cNvSpPr/>
          <p:nvPr>
            <p:custDataLst>
              <p:tags r:id="rId27"/>
            </p:custDataLst>
          </p:nvPr>
        </p:nvSpPr>
        <p:spPr>
          <a:xfrm>
            <a:off x="7719060" y="363855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政企合作</a:t>
            </a:r>
            <a:endParaRPr lang="en-US" sz="1100"/>
          </a:p>
        </p:txBody>
      </p:sp>
      <p:sp>
        <p:nvSpPr>
          <p:cNvPr id="24" name="AutoShape 22"/>
          <p:cNvSpPr/>
          <p:nvPr>
            <p:custDataLst>
              <p:tags r:id="rId28"/>
            </p:custDataLst>
          </p:nvPr>
        </p:nvSpPr>
        <p:spPr>
          <a:xfrm>
            <a:off x="7719060" y="45275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B端批量政府采购订单</a:t>
            </a:r>
            <a:b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叠加政府相关政策补贴</a:t>
            </a:r>
            <a:endParaRPr lang="en-US" sz="1100"/>
          </a:p>
        </p:txBody>
      </p:sp>
      <p:sp>
        <p:nvSpPr>
          <p:cNvPr id="25" name="AutoShape 23"/>
          <p:cNvSpPr/>
          <p:nvPr>
            <p:custDataLst>
              <p:tags r:id="rId29"/>
            </p:custDataLst>
          </p:nvPr>
        </p:nvSpPr>
        <p:spPr>
          <a:xfrm>
            <a:off x="9624060" y="2114550"/>
            <a:ext cx="203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4"/>
          <p:cNvSpPr/>
          <p:nvPr>
            <p:custDataLst>
              <p:tags r:id="rId30"/>
            </p:custDataLst>
          </p:nvPr>
        </p:nvSpPr>
        <p:spPr>
          <a:xfrm>
            <a:off x="9624060" y="2114550"/>
            <a:ext cx="203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284460" y="2622550"/>
            <a:ext cx="711200" cy="711200"/>
          </a:xfrm>
          <a:prstGeom prst="rect">
            <a:avLst/>
          </a:prstGeom>
        </p:spPr>
      </p:pic>
      <p:sp>
        <p:nvSpPr>
          <p:cNvPr id="28" name="AutoShape 26"/>
          <p:cNvSpPr/>
          <p:nvPr>
            <p:custDataLst>
              <p:tags r:id="rId34"/>
            </p:custDataLst>
          </p:nvPr>
        </p:nvSpPr>
        <p:spPr>
          <a:xfrm>
            <a:off x="9751060" y="363855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就业赋能</a:t>
            </a:r>
            <a:endParaRPr lang="en-US" sz="1100"/>
          </a:p>
        </p:txBody>
      </p:sp>
      <p:sp>
        <p:nvSpPr>
          <p:cNvPr id="29" name="AutoShape 27"/>
          <p:cNvSpPr/>
          <p:nvPr>
            <p:custDataLst>
              <p:tags r:id="rId35"/>
            </p:custDataLst>
          </p:nvPr>
        </p:nvSpPr>
        <p:spPr>
          <a:xfrm>
            <a:off x="9751060" y="45275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获得社会就业服务补贴</a:t>
            </a:r>
            <a:b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以及企业用工推荐分成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产品规划：三代产品迭代路径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>
            <p:custDataLst>
              <p:tags r:id="rId3"/>
            </p:custDataLst>
          </p:nvPr>
        </p:nvSpPr>
        <p:spPr>
          <a:xfrm>
            <a:off x="762000" y="2095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1.0 产品</a:t>
            </a: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(1-3个月)</a:t>
            </a:r>
            <a:endParaRPr lang="en-US" sz="1100"/>
          </a:p>
        </p:txBody>
      </p:sp>
      <p:sp>
        <p:nvSpPr>
          <p:cNvPr id="9" name="AutoShape 8"/>
          <p:cNvSpPr/>
          <p:nvPr>
            <p:custDataLst>
              <p:tags r:id="rId4"/>
            </p:custDataLst>
          </p:nvPr>
        </p:nvSpPr>
        <p:spPr>
          <a:xfrm>
            <a:off x="4445000" y="1905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5"/>
            </p:custDataLst>
          </p:nvPr>
        </p:nvSpPr>
        <p:spPr>
          <a:xfrm>
            <a:off x="4445000" y="1905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0"/>
          <p:cNvSpPr/>
          <p:nvPr>
            <p:custDataLst>
              <p:tags r:id="rId6"/>
            </p:custDataLst>
          </p:nvPr>
        </p:nvSpPr>
        <p:spPr>
          <a:xfrm>
            <a:off x="4445000" y="2095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2.0 产品</a:t>
            </a: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(3-6-个月)</a:t>
            </a:r>
            <a:endParaRPr lang="en-US" sz="1100"/>
          </a:p>
        </p:txBody>
      </p:sp>
      <p:pic>
        <p:nvPicPr>
          <p:cNvPr id="13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4405" y="3208655"/>
            <a:ext cx="635000" cy="635000"/>
          </a:xfrm>
          <a:prstGeom prst="rect">
            <a:avLst/>
          </a:prstGeom>
        </p:spPr>
      </p:pic>
      <p:sp>
        <p:nvSpPr>
          <p:cNvPr id="14" name="AutoShape 12"/>
          <p:cNvSpPr/>
          <p:nvPr>
            <p:custDataLst>
              <p:tags r:id="rId10"/>
            </p:custDataLst>
          </p:nvPr>
        </p:nvSpPr>
        <p:spPr>
          <a:xfrm>
            <a:off x="1043940" y="3937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智能眼镜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核心：可视化+全场景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</a:t>
            </a: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AR显示、方言适配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，拓展应用边界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2000"/>
              </a:spcBef>
            </a:pPr>
            <a:r>
              <a:rPr lang="zh-CN" altLang="en-US" sz="14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拟</a:t>
            </a:r>
            <a:r>
              <a:rPr lang="en-US" sz="14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</a:t>
            </a: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¥3999 </a:t>
            </a:r>
            <a:r>
              <a:rPr lang="en-US" sz="140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利润率30%</a:t>
            </a:r>
            <a:endParaRPr lang="en-US" sz="140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>
            <p:custDataLst>
              <p:tags r:id="rId11"/>
            </p:custDataLst>
          </p:nvPr>
        </p:nvSpPr>
        <p:spPr>
          <a:xfrm>
            <a:off x="8128000" y="1905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>
            <p:custDataLst>
              <p:tags r:id="rId12"/>
            </p:custDataLst>
          </p:nvPr>
        </p:nvSpPr>
        <p:spPr>
          <a:xfrm>
            <a:off x="8128000" y="1905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5"/>
          <p:cNvSpPr/>
          <p:nvPr>
            <p:custDataLst>
              <p:tags r:id="rId13"/>
            </p:custDataLst>
          </p:nvPr>
        </p:nvSpPr>
        <p:spPr>
          <a:xfrm>
            <a:off x="8128000" y="20955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3.0 产品</a:t>
            </a: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(6-12个月)</a:t>
            </a:r>
            <a:endParaRPr lang="en-US" sz="1100"/>
          </a:p>
        </p:txBody>
      </p:sp>
      <p:pic>
        <p:nvPicPr>
          <p:cNvPr id="18" name="Picture 1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61500" y="3111500"/>
            <a:ext cx="635000" cy="635000"/>
          </a:xfrm>
          <a:prstGeom prst="rect">
            <a:avLst/>
          </a:prstGeom>
        </p:spPr>
      </p:pic>
      <p:sp>
        <p:nvSpPr>
          <p:cNvPr id="19" name="AutoShape 17"/>
          <p:cNvSpPr/>
          <p:nvPr>
            <p:custDataLst>
              <p:tags r:id="rId17"/>
            </p:custDataLst>
          </p:nvPr>
        </p:nvSpPr>
        <p:spPr>
          <a:xfrm>
            <a:off x="8318500" y="3937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智能手表 + APP生态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核心：全场景覆盖+个性化定制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离线翻译、康复训练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，打造服务闭环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2000"/>
              </a:spcBef>
            </a:pPr>
            <a:r>
              <a:rPr lang="zh-CN" altLang="en-US" sz="14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拟</a:t>
            </a:r>
            <a:r>
              <a:rPr lang="en-US" sz="14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</a:t>
            </a: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¥899</a:t>
            </a:r>
            <a:endParaRPr lang="en-US" sz="28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7"/>
          <p:cNvSpPr/>
          <p:nvPr>
            <p:custDataLst>
              <p:tags r:id="rId18"/>
            </p:custDataLst>
          </p:nvPr>
        </p:nvSpPr>
        <p:spPr>
          <a:xfrm>
            <a:off x="4635500" y="3968115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智能耳机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核心：低成本、高易用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主打</a:t>
            </a: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实时翻译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功能，快速验证市场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2000"/>
              </a:spcBef>
            </a:pPr>
            <a:r>
              <a:rPr lang="zh-CN" altLang="en-US" sz="14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拟</a:t>
            </a:r>
            <a:r>
              <a:rPr lang="en-US" sz="14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定价</a:t>
            </a: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¥399</a:t>
            </a:r>
            <a:endParaRPr lang="en-US" sz="28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68315" y="3208655"/>
            <a:ext cx="6350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竞品分析：蓝海赛道，优势显著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2603500" cy="3683000"/>
          </a:xfrm>
          <a:prstGeom prst="roundRect">
            <a:avLst>
              <a:gd name="adj" fmla="val 39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/>
        </p:nvSpPr>
        <p:spPr>
          <a:xfrm>
            <a:off x="762000" y="1778000"/>
            <a:ext cx="2603500" cy="7620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/>
        </p:nvSpPr>
        <p:spPr>
          <a:xfrm>
            <a:off x="762000" y="19304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通用语音助手</a:t>
            </a:r>
            <a:endParaRPr lang="en-US" sz="1100"/>
          </a:p>
        </p:txBody>
      </p:sp>
      <p:sp>
        <p:nvSpPr>
          <p:cNvPr id="7" name="AutoShape 6"/>
          <p:cNvSpPr/>
          <p:nvPr/>
        </p:nvSpPr>
        <p:spPr>
          <a:xfrm>
            <a:off x="952500" y="2794000"/>
            <a:ext cx="22225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科大讯飞、小爱同学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核心劣势：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非标发音识别率＜20%，无法精准适配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本项目优势：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专属模型定制，识别率≥90%</a:t>
            </a:r>
            <a:endParaRPr lang="en-US" sz="13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3492500" y="1778000"/>
            <a:ext cx="2603500" cy="3683000"/>
          </a:xfrm>
          <a:prstGeom prst="roundRect">
            <a:avLst>
              <a:gd name="adj" fmla="val 39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8"/>
          <p:cNvSpPr/>
          <p:nvPr/>
        </p:nvSpPr>
        <p:spPr>
          <a:xfrm>
            <a:off x="3492500" y="1778000"/>
            <a:ext cx="2603500" cy="7620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/>
        </p:nvSpPr>
        <p:spPr>
          <a:xfrm>
            <a:off x="3492500" y="19304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国外AAC设备</a:t>
            </a:r>
            <a:endParaRPr lang="en-US" sz="1100"/>
          </a:p>
        </p:txBody>
      </p:sp>
      <p:sp>
        <p:nvSpPr>
          <p:cNvPr id="12" name="AutoShape 10"/>
          <p:cNvSpPr/>
          <p:nvPr/>
        </p:nvSpPr>
        <p:spPr>
          <a:xfrm>
            <a:off x="3683000" y="2794000"/>
            <a:ext cx="22225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代表产品：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Prentke Romich (PRC)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核心劣势：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价格昂贵(数万元)，且无中文本地化适配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本项目优势：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价格亲民，专为中文语境优化设计</a:t>
            </a:r>
            <a:endParaRPr lang="en-US" sz="13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1"/>
          <p:cNvSpPr/>
          <p:nvPr/>
        </p:nvSpPr>
        <p:spPr>
          <a:xfrm>
            <a:off x="6223000" y="1778000"/>
            <a:ext cx="2603500" cy="3683000"/>
          </a:xfrm>
          <a:prstGeom prst="roundRect">
            <a:avLst>
              <a:gd name="adj" fmla="val 39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2"/>
          <p:cNvSpPr/>
          <p:nvPr/>
        </p:nvSpPr>
        <p:spPr>
          <a:xfrm>
            <a:off x="6223000" y="1778000"/>
            <a:ext cx="2603500" cy="7620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3"/>
          <p:cNvSpPr/>
          <p:nvPr/>
        </p:nvSpPr>
        <p:spPr>
          <a:xfrm>
            <a:off x="6223000" y="19304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传统辅助工具</a:t>
            </a:r>
            <a:endParaRPr lang="en-US" sz="1100"/>
          </a:p>
        </p:txBody>
      </p:sp>
      <p:sp>
        <p:nvSpPr>
          <p:cNvPr id="16" name="AutoShape 14"/>
          <p:cNvSpPr/>
          <p:nvPr/>
        </p:nvSpPr>
        <p:spPr>
          <a:xfrm>
            <a:off x="6413500" y="2794000"/>
            <a:ext cx="22225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手写板、纸质沟通卡、点读机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核心劣势：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沟通效率极低，即时性差，严重依赖肢体动作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本项目优势：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AI实时翻译与合成，沟通效率提升10倍+</a:t>
            </a:r>
            <a:endParaRPr lang="en-US" sz="13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5"/>
          <p:cNvSpPr/>
          <p:nvPr/>
        </p:nvSpPr>
        <p:spPr>
          <a:xfrm>
            <a:off x="8953500" y="1778000"/>
            <a:ext cx="2603500" cy="3683000"/>
          </a:xfrm>
          <a:prstGeom prst="roundRect">
            <a:avLst>
              <a:gd name="adj" fmla="val 39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6"/>
          <p:cNvSpPr/>
          <p:nvPr/>
        </p:nvSpPr>
        <p:spPr>
          <a:xfrm>
            <a:off x="8953500" y="1778000"/>
            <a:ext cx="2603500" cy="7620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7"/>
          <p:cNvSpPr/>
          <p:nvPr/>
        </p:nvSpPr>
        <p:spPr>
          <a:xfrm>
            <a:off x="8953500" y="19304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翻译耳机</a:t>
            </a:r>
            <a:endParaRPr lang="en-US" sz="1100"/>
          </a:p>
        </p:txBody>
      </p:sp>
      <p:sp>
        <p:nvSpPr>
          <p:cNvPr id="20" name="AutoShape 18"/>
          <p:cNvSpPr/>
          <p:nvPr/>
        </p:nvSpPr>
        <p:spPr>
          <a:xfrm>
            <a:off x="9144000" y="2794000"/>
            <a:ext cx="22225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代表产品：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时空壶、kika GO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核心劣势：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主打跨语种翻译，不支持非标发音，场景错位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本项目优势：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聚焦言语障碍群体，是该垂直场景的唯一解</a:t>
            </a:r>
            <a:endParaRPr lang="en-US" sz="13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9"/>
          <p:cNvSpPr/>
          <p:nvPr/>
        </p:nvSpPr>
        <p:spPr>
          <a:xfrm>
            <a:off x="762000" y="5715000"/>
            <a:ext cx="10795000" cy="889000"/>
          </a:xfrm>
          <a:prstGeom prst="roundRect">
            <a:avLst>
              <a:gd name="adj" fmla="val 11428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5930900"/>
            <a:ext cx="457200" cy="457200"/>
          </a:xfrm>
          <a:prstGeom prst="rect">
            <a:avLst/>
          </a:prstGeom>
        </p:spPr>
      </p:pic>
      <p:sp>
        <p:nvSpPr>
          <p:cNvPr id="23" name="AutoShape 21"/>
          <p:cNvSpPr/>
          <p:nvPr/>
        </p:nvSpPr>
        <p:spPr>
          <a:xfrm>
            <a:off x="1905000" y="58420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结论：本项目处于绝对的</a:t>
            </a: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蓝海赛道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，无直接竞争对手，具备显著的差异化竞争壁垒。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目标用户与市场规模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95500"/>
            <a:ext cx="609600" cy="609600"/>
          </a:xfrm>
          <a:prstGeom prst="rect">
            <a:avLst/>
          </a:prstGeom>
        </p:spPr>
      </p:pic>
      <p:sp>
        <p:nvSpPr>
          <p:cNvPr id="6" name="AutoShape 5"/>
          <p:cNvSpPr/>
          <p:nvPr/>
        </p:nvSpPr>
        <p:spPr>
          <a:xfrm>
            <a:off x="1905000" y="2032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核心用户：言语障碍人群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3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1300</a:t>
            </a:r>
            <a:r>
              <a:rPr lang="zh-CN" altLang="en-US" sz="3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</a:t>
            </a:r>
            <a:r>
              <a:rPr lang="zh-CN" alt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（国内）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直接服务对象与核心付费来源，需求刚性且长期存在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095500"/>
            <a:ext cx="609600" cy="609600"/>
          </a:xfrm>
          <a:prstGeom prst="rect">
            <a:avLst/>
          </a:prstGeom>
        </p:spPr>
      </p:pic>
      <p:sp>
        <p:nvSpPr>
          <p:cNvPr id="9" name="AutoShape 8"/>
          <p:cNvSpPr/>
          <p:nvPr/>
        </p:nvSpPr>
        <p:spPr>
          <a:xfrm>
            <a:off x="7366000" y="2032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生态协同与间接用户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特殊教育学校 | 康复医院 | 残联 | 患者家属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构成产品的关键销售渠道、推广合作伙伴与间接付费方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0"/>
          <p:cNvSpPr/>
          <p:nvPr/>
        </p:nvSpPr>
        <p:spPr>
          <a:xfrm>
            <a:off x="1016000" y="4445000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首年预估 (保守测算)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5亿元+</a:t>
            </a:r>
            <a:endParaRPr lang="en-US" sz="28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硬件3.25亿 + 订阅1.29亿 + 其他</a:t>
            </a:r>
            <a:endParaRPr lang="en-US" sz="11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1"/>
          <p:cNvSpPr/>
          <p:nvPr/>
        </p:nvSpPr>
        <p:spPr>
          <a:xfrm>
            <a:off x="3492500" y="4445000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长期市场规模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10亿元+</a:t>
            </a:r>
            <a:endParaRPr lang="en-US" sz="28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随市场渗透率与服务价值稳步增长</a:t>
            </a:r>
            <a:endParaRPr lang="en-US" sz="11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2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3"/>
          <p:cNvSpPr/>
          <p:nvPr/>
        </p:nvSpPr>
        <p:spPr>
          <a:xfrm>
            <a:off x="6477000" y="4445000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2032年 全球赛道规模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26亿美元</a:t>
            </a:r>
            <a:endParaRPr lang="en-US" sz="28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全球语言辅助技术市场预测值</a:t>
            </a:r>
            <a:endParaRPr lang="en-US" sz="11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4"/>
          <p:cNvSpPr/>
          <p:nvPr/>
        </p:nvSpPr>
        <p:spPr>
          <a:xfrm>
            <a:off x="8953500" y="4445000"/>
            <a:ext cx="2222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本项目长期目标份额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10%</a:t>
            </a:r>
            <a:endParaRPr lang="en-US" sz="28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凭借技术壁垒与先发优势实现覆盖</a:t>
            </a:r>
            <a:endParaRPr lang="en-US" sz="11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市场趋势：四大驱动力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/>
        </p:nvSpPr>
        <p:spPr>
          <a:xfrm>
            <a:off x="762000" y="1778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222500"/>
            <a:ext cx="609600" cy="6096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2032000" y="2095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政策驱动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全球范围内无障碍科技日益受到重视，中国政府持续加大对助残产业的政策扶持与资金投入，行业发展拥有坚实的政策保障。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8"/>
          <p:cNvSpPr/>
          <p:nvPr/>
        </p:nvSpPr>
        <p:spPr>
          <a:xfrm>
            <a:off x="6223000" y="1778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222500"/>
            <a:ext cx="609600" cy="609600"/>
          </a:xfrm>
          <a:prstGeom prst="rect">
            <a:avLst/>
          </a:prstGeom>
        </p:spPr>
      </p:pic>
      <p:sp>
        <p:nvSpPr>
          <p:cNvPr id="12" name="AutoShape 10"/>
          <p:cNvSpPr/>
          <p:nvPr/>
        </p:nvSpPr>
        <p:spPr>
          <a:xfrm>
            <a:off x="7493000" y="2095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技术成熟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AI大模型、边缘计算、以及低功耗、高性能的专用芯片技术的快速迭代与落地，为无障碍科技产品提供了强大且稳定的底层技术支撑。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1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2"/>
          <p:cNvSpPr/>
          <p:nvPr/>
        </p:nvSpPr>
        <p:spPr>
          <a:xfrm>
            <a:off x="762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635500"/>
            <a:ext cx="609600" cy="609600"/>
          </a:xfrm>
          <a:prstGeom prst="rect">
            <a:avLst/>
          </a:prstGeom>
        </p:spPr>
      </p:pic>
      <p:sp>
        <p:nvSpPr>
          <p:cNvPr id="16" name="AutoShape 14"/>
          <p:cNvSpPr/>
          <p:nvPr/>
        </p:nvSpPr>
        <p:spPr>
          <a:xfrm>
            <a:off x="2032000" y="4508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需求爆发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言语障碍群体对高效、自然的沟通辅助工具需求日益迫切，且随着社会经济发展，该群体的消费能力与支付意愿也在稳步提升。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5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6"/>
          <p:cNvSpPr/>
          <p:nvPr/>
        </p:nvSpPr>
        <p:spPr>
          <a:xfrm>
            <a:off x="6223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635500"/>
            <a:ext cx="609600" cy="609600"/>
          </a:xfrm>
          <a:prstGeom prst="rect">
            <a:avLst/>
          </a:prstGeom>
        </p:spPr>
      </p:pic>
      <p:sp>
        <p:nvSpPr>
          <p:cNvPr id="20" name="AutoShape 18"/>
          <p:cNvSpPr/>
          <p:nvPr/>
        </p:nvSpPr>
        <p:spPr>
          <a:xfrm>
            <a:off x="7493000" y="4508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资本青睐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兼具社会价值与商业潜力的助残科技赛道，以及垂直AI应用领域，正逐渐成为资本市场关注和投资的热点方向，资金注入活跃度持续走高。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0" y="1397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运营规划与落地路径</a:t>
            </a: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5588000" y="469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/>
        </p:nvSpPr>
        <p:spPr>
          <a:xfrm>
            <a:off x="0" y="520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三年三步走的清晰策略</a:t>
            </a:r>
            <a:endParaRPr lang="en-US" sz="2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 三年发展规划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>
            <p:custDataLst>
              <p:tags r:id="rId3"/>
            </p:custDataLst>
          </p:nvPr>
        </p:nvSpPr>
        <p:spPr>
          <a:xfrm>
            <a:off x="1016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6"/>
          <p:cNvSpPr/>
          <p:nvPr>
            <p:custDataLst>
              <p:tags r:id="rId4"/>
            </p:custDataLst>
          </p:nvPr>
        </p:nvSpPr>
        <p:spPr>
          <a:xfrm>
            <a:off x="1016000" y="34290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第1年：产品研发 + 市场验证</a:t>
            </a:r>
            <a:endParaRPr lang="en-US" sz="1100"/>
          </a:p>
        </p:txBody>
      </p:sp>
      <p:sp>
        <p:nvSpPr>
          <p:cNvPr id="8" name="AutoShape 7"/>
          <p:cNvSpPr/>
          <p:nvPr>
            <p:custDataLst>
              <p:tags r:id="rId5"/>
            </p:custDataLst>
          </p:nvPr>
        </p:nvSpPr>
        <p:spPr>
          <a:xfrm>
            <a:off x="1016000" y="4580255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推出1.0智能耳机+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智能眼镜</a:t>
            </a:r>
            <a:r>
              <a:rPr lang="en-US" altLang="zh-CN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智能手表等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，规模量产2万台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实现营收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3000万+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累计用户突破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2万+，</a:t>
            </a:r>
            <a:r>
              <a:rPr lang="zh-CN" alt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盈亏</a:t>
            </a:r>
            <a:r>
              <a:rPr lang="zh-CN" alt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</a:t>
            </a:r>
            <a:endParaRPr lang="zh-CN" altLang="en-US" sz="14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>
            <p:custDataLst>
              <p:tags r:id="rId6"/>
            </p:custDataLst>
          </p:nvPr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7"/>
            </p:custDataLst>
          </p:nvPr>
        </p:nvSpPr>
        <p:spPr>
          <a:xfrm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0"/>
          <p:cNvSpPr/>
          <p:nvPr>
            <p:custDataLst>
              <p:tags r:id="rId8"/>
            </p:custDataLst>
          </p:nvPr>
        </p:nvSpPr>
        <p:spPr>
          <a:xfrm>
            <a:off x="4699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3"/>
          <p:cNvSpPr/>
          <p:nvPr>
            <p:custDataLst>
              <p:tags r:id="rId9"/>
            </p:custDataLst>
          </p:nvPr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>
            <p:custDataLst>
              <p:tags r:id="rId10"/>
            </p:custDataLst>
          </p:nvPr>
        </p:nvSpPr>
        <p:spPr>
          <a:xfrm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5"/>
          <p:cNvSpPr/>
          <p:nvPr>
            <p:custDataLst>
              <p:tags r:id="rId11"/>
            </p:custDataLst>
          </p:nvPr>
        </p:nvSpPr>
        <p:spPr>
          <a:xfrm>
            <a:off x="8382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" name="AutoShape 16"/>
          <p:cNvSpPr/>
          <p:nvPr>
            <p:custDataLst>
              <p:tags r:id="rId12"/>
            </p:custDataLst>
          </p:nvPr>
        </p:nvSpPr>
        <p:spPr>
          <a:xfrm>
            <a:off x="4699000" y="3310255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第2年：生态完善 + 全国领先</a:t>
            </a:r>
            <a:endParaRPr lang="en-US" sz="1100"/>
          </a:p>
        </p:txBody>
      </p:sp>
      <p:sp>
        <p:nvSpPr>
          <p:cNvPr id="19" name="AutoShape 17"/>
          <p:cNvSpPr/>
          <p:nvPr>
            <p:custDataLst>
              <p:tags r:id="rId13"/>
            </p:custDataLst>
          </p:nvPr>
        </p:nvSpPr>
        <p:spPr>
          <a:xfrm>
            <a:off x="4699000" y="4453255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</a:t>
            </a:r>
            <a:r>
              <a:rPr lang="en-US" altLang="zh-CN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语音康复订阅收费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，用户总量突破10万+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•营收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1.5亿+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净利润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1500万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目标：成为细分领域</a:t>
            </a: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全国第一品牌</a:t>
            </a:r>
            <a:endParaRPr lang="en-US" sz="1100"/>
          </a:p>
        </p:txBody>
      </p:sp>
      <p:sp>
        <p:nvSpPr>
          <p:cNvPr id="20" name="AutoShape 16"/>
          <p:cNvSpPr/>
          <p:nvPr>
            <p:custDataLst>
              <p:tags r:id="rId14"/>
            </p:custDataLst>
          </p:nvPr>
        </p:nvSpPr>
        <p:spPr>
          <a:xfrm>
            <a:off x="8382000" y="3322955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第3年：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技术领先</a:t>
            </a: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</a:t>
            </a:r>
            <a:endParaRPr lang="zh-CN" altLang="en-US" sz="20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7"/>
          <p:cNvSpPr/>
          <p:nvPr>
            <p:custDataLst>
              <p:tags r:id="rId15"/>
            </p:custDataLst>
          </p:nvPr>
        </p:nvSpPr>
        <p:spPr>
          <a:xfrm>
            <a:off x="8382000" y="4465955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利用全球最大中国市场验证提升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模型性能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利用中国硬件产品价格优势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目标：成为</a:t>
            </a:r>
            <a:r>
              <a:rPr lang="zh-CN" alt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细分领率</a:t>
            </a: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</a:t>
            </a:r>
            <a:r>
              <a:rPr lang="zh-CN" alt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球</a:t>
            </a:r>
            <a:r>
              <a:rPr lang="en-US" altLang="zh-CN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TOP</a:t>
            </a: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运营策略：全方位覆盖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/>
        </p:nvSpPr>
        <p:spPr>
          <a:xfrm>
            <a:off x="762000" y="1778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508000" cy="5080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1778000" y="1968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用户运营</a:t>
            </a:r>
            <a:endParaRPr lang="en-US" sz="1100"/>
          </a:p>
        </p:txBody>
      </p:sp>
      <p:sp>
        <p:nvSpPr>
          <p:cNvPr id="8" name="AutoShape 7"/>
          <p:cNvSpPr/>
          <p:nvPr/>
        </p:nvSpPr>
        <p:spPr>
          <a:xfrm>
            <a:off x="952500" y="3048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建立高活跃度的用户社群，为用户提供产品免费试用机会、会员专属优惠折扣，以及专业的言语康复指导服务。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建立用户激励机制，鼓励真实的康复效果分享与口碑传播，以老带新，降低获客成本。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/>
        </p:nvSpPr>
        <p:spPr>
          <a:xfrm>
            <a:off x="4445000" y="1778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032000"/>
            <a:ext cx="508000" cy="508000"/>
          </a:xfrm>
          <a:prstGeom prst="rect">
            <a:avLst/>
          </a:prstGeom>
        </p:spPr>
      </p:pic>
      <p:sp>
        <p:nvSpPr>
          <p:cNvPr id="13" name="AutoShape 11"/>
          <p:cNvSpPr/>
          <p:nvPr/>
        </p:nvSpPr>
        <p:spPr>
          <a:xfrm>
            <a:off x="5461000" y="1968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渠道运营</a:t>
            </a:r>
            <a:endParaRPr lang="en-US" sz="1100"/>
          </a:p>
        </p:txBody>
      </p:sp>
      <p:sp>
        <p:nvSpPr>
          <p:cNvPr id="14" name="AutoShape 12"/>
          <p:cNvSpPr/>
          <p:nvPr/>
        </p:nvSpPr>
        <p:spPr>
          <a:xfrm>
            <a:off x="4635500" y="3048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线下核心：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与残联、民政部门、特殊教育学校及康复医院建立深度合作，成为定点采购与推荐品牌。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线上矩阵：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布局抖音、快手短视频直播带货，入驻淘宝、京东电商平台，实现线上全域流量覆盖。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政企合作：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积极对接各地市政府采购项目及残疾人关爱公益项目，扩大市场份额与社会影响力。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/>
        </p:nvSpPr>
        <p:spPr>
          <a:xfrm>
            <a:off x="8128000" y="1778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508000" cy="508000"/>
          </a:xfrm>
          <a:prstGeom prst="rect">
            <a:avLst/>
          </a:prstGeom>
        </p:spPr>
      </p:pic>
      <p:sp>
        <p:nvSpPr>
          <p:cNvPr id="18" name="AutoShape 16"/>
          <p:cNvSpPr/>
          <p:nvPr/>
        </p:nvSpPr>
        <p:spPr>
          <a:xfrm>
            <a:off x="9144000" y="1968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品牌运营</a:t>
            </a:r>
            <a:endParaRPr lang="en-US" sz="1100"/>
          </a:p>
        </p:txBody>
      </p:sp>
      <p:sp>
        <p:nvSpPr>
          <p:cNvPr id="19" name="AutoShape 17"/>
          <p:cNvSpPr/>
          <p:nvPr/>
        </p:nvSpPr>
        <p:spPr>
          <a:xfrm>
            <a:off x="8318500" y="3048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品牌定位：坚持商业化与公益化并行，打造“让言语障碍者开口说话”的温暖公益品牌形象，与用户建立情感共鸣。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联合残联、知名公益组织定期举办线上线下的言语康复公益活动，提升品牌知名度与美誉度。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0" y="1524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融资计划</a:t>
            </a: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高回报的价值投资</a:t>
            </a:r>
            <a:endParaRPr lang="en-US" sz="2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 融资需求与资金用途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57200" cy="457200"/>
          </a:xfrm>
          <a:prstGeom prst="rect">
            <a:avLst/>
          </a:prstGeom>
        </p:spPr>
      </p:pic>
      <p:sp>
        <p:nvSpPr>
          <p:cNvPr id="6" name="AutoShape 5"/>
          <p:cNvSpPr/>
          <p:nvPr/>
        </p:nvSpPr>
        <p:spPr>
          <a:xfrm>
            <a:off x="1501775" y="1841500"/>
            <a:ext cx="230822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融资轮次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zh-CN" alt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天使</a:t>
            </a:r>
            <a:r>
              <a:rPr 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轮</a:t>
            </a:r>
            <a:endParaRPr lang="en-US" sz="2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启动扩张 · 验证商业模式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4445000" y="165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457200" cy="457200"/>
          </a:xfrm>
          <a:prstGeom prst="rect">
            <a:avLst/>
          </a:prstGeom>
        </p:spPr>
      </p:pic>
      <p:sp>
        <p:nvSpPr>
          <p:cNvPr id="9" name="AutoShape 8"/>
          <p:cNvSpPr/>
          <p:nvPr/>
        </p:nvSpPr>
        <p:spPr>
          <a:xfrm>
            <a:off x="5334000" y="18415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融资金额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500万元</a:t>
            </a:r>
            <a:endParaRPr lang="en-US" sz="24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用于全链路业务加速跑通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8128000" y="1651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57200" cy="457200"/>
          </a:xfrm>
          <a:prstGeom prst="rect">
            <a:avLst/>
          </a:prstGeom>
        </p:spPr>
      </p:pic>
      <p:sp>
        <p:nvSpPr>
          <p:cNvPr id="13" name="AutoShape 11"/>
          <p:cNvSpPr/>
          <p:nvPr/>
        </p:nvSpPr>
        <p:spPr>
          <a:xfrm>
            <a:off x="9017000" y="194056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股权出让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10%</a:t>
            </a:r>
            <a:endParaRPr lang="en-US" sz="24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共享成长 · 释放核心价值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zh-CN" alt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并预留</a:t>
            </a:r>
            <a:r>
              <a:rPr lang="en-US" altLang="zh-CN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15%</a:t>
            </a:r>
            <a:r>
              <a:rPr lang="zh-CN" alt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</a:t>
            </a:r>
            <a:r>
              <a:rPr lang="zh-CN" alt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期权池</a:t>
            </a:r>
            <a:endParaRPr lang="zh-CN" alt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2"/>
          <p:cNvSpPr/>
          <p:nvPr/>
        </p:nvSpPr>
        <p:spPr>
          <a:xfrm>
            <a:off x="762000" y="3810000"/>
            <a:ext cx="10668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3"/>
          <p:cNvSpPr/>
          <p:nvPr/>
        </p:nvSpPr>
        <p:spPr>
          <a:xfrm>
            <a:off x="952500" y="4064000"/>
            <a:ext cx="1905000" cy="2159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/>
        </p:nvSpPr>
        <p:spPr>
          <a:xfrm>
            <a:off x="952500" y="42545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40%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技术研发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夯实壁垒 / 算法迭代 / 专利布局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5"/>
          <p:cNvSpPr/>
          <p:nvPr/>
        </p:nvSpPr>
        <p:spPr>
          <a:xfrm>
            <a:off x="3048000" y="4064000"/>
            <a:ext cx="1905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6"/>
          <p:cNvSpPr/>
          <p:nvPr/>
        </p:nvSpPr>
        <p:spPr>
          <a:xfrm>
            <a:off x="3048000" y="42545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20%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量产与供应链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成本优化 / 产能爬坡 / 品控体系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7"/>
          <p:cNvSpPr/>
          <p:nvPr/>
        </p:nvSpPr>
        <p:spPr>
          <a:xfrm>
            <a:off x="5143500" y="4064000"/>
            <a:ext cx="1905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18"/>
          <p:cNvSpPr/>
          <p:nvPr/>
        </p:nvSpPr>
        <p:spPr>
          <a:xfrm>
            <a:off x="5143500" y="42545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20%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市场推广与运营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品牌建设 / 渠道拓展 / 用户增长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9"/>
          <p:cNvSpPr/>
          <p:nvPr/>
        </p:nvSpPr>
        <p:spPr>
          <a:xfrm>
            <a:off x="7239000" y="4064000"/>
            <a:ext cx="1905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0"/>
          <p:cNvSpPr/>
          <p:nvPr/>
        </p:nvSpPr>
        <p:spPr>
          <a:xfrm>
            <a:off x="7239000" y="42545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15%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数据采集与处理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场景覆盖 / 模型训练 / 智能优化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1"/>
          <p:cNvSpPr/>
          <p:nvPr/>
        </p:nvSpPr>
        <p:spPr>
          <a:xfrm>
            <a:off x="9334500" y="4064000"/>
            <a:ext cx="1905000" cy="2159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2"/>
          <p:cNvSpPr/>
          <p:nvPr/>
        </p:nvSpPr>
        <p:spPr>
          <a:xfrm>
            <a:off x="9334500" y="42545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5%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团队与备用金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人才引进 / 日常运营 / 风险应对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0" y="1397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风险分析与应对</a:t>
            </a: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5588000" y="469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/>
        </p:nvSpPr>
        <p:spPr>
          <a:xfrm>
            <a:off x="0" y="520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稳健前行的保障</a:t>
            </a:r>
            <a:endParaRPr lang="en-US" sz="2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 核心风险与应对措施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1981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1981200" cy="9144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032000"/>
            <a:ext cx="406400" cy="4064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1422400" y="1955800"/>
            <a:ext cx="1193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技术风险</a:t>
            </a:r>
            <a:endParaRPr lang="en-US" sz="1100"/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889000" y="2921000"/>
            <a:ext cx="17272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Aft>
                <a:spcPts val="800"/>
              </a:spcAft>
              <a:defRPr/>
            </a:pPr>
            <a:r>
              <a:rPr lang="en-US" sz="15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zh-CN" alt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积极拓展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与多家技术方合作，分散单点依赖风险；签订权责明确的技术开发协议，严格执行分阶段验收标准，确保技术落地质量。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2933700" y="1778000"/>
            <a:ext cx="1981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9"/>
            </p:custDataLst>
          </p:nvPr>
        </p:nvSpPr>
        <p:spPr>
          <a:xfrm>
            <a:off x="2933700" y="1778000"/>
            <a:ext cx="1981200" cy="9144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86100" y="2032000"/>
            <a:ext cx="406400" cy="406400"/>
          </a:xfrm>
          <a:prstGeom prst="rect">
            <a:avLst/>
          </a:prstGeom>
        </p:spPr>
      </p:pic>
      <p:sp>
        <p:nvSpPr>
          <p:cNvPr id="13" name="AutoShape 11"/>
          <p:cNvSpPr/>
          <p:nvPr>
            <p:custDataLst>
              <p:tags r:id="rId13"/>
            </p:custDataLst>
          </p:nvPr>
        </p:nvSpPr>
        <p:spPr>
          <a:xfrm>
            <a:off x="3594100" y="1955800"/>
            <a:ext cx="1193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市场风险</a:t>
            </a:r>
            <a:endParaRPr lang="en-US" sz="1100"/>
          </a:p>
        </p:txBody>
      </p:sp>
      <p:sp>
        <p:nvSpPr>
          <p:cNvPr id="14" name="AutoShape 12"/>
          <p:cNvSpPr/>
          <p:nvPr>
            <p:custDataLst>
              <p:tags r:id="rId14"/>
            </p:custDataLst>
          </p:nvPr>
        </p:nvSpPr>
        <p:spPr>
          <a:xfrm>
            <a:off x="3060700" y="2921000"/>
            <a:ext cx="17272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Aft>
                <a:spcPts val="800"/>
              </a:spcAft>
              <a:defRPr/>
            </a:pPr>
            <a:r>
              <a:rPr lang="en-US" sz="15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优先开展小规模试点验证商业模式；充分依托独家渠道资源建立竞争壁垒；坚持亲民的定价策略，快速渗透并占领目标市场。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3"/>
          <p:cNvSpPr/>
          <p:nvPr>
            <p:custDataLst>
              <p:tags r:id="rId15"/>
            </p:custDataLst>
          </p:nvPr>
        </p:nvSpPr>
        <p:spPr>
          <a:xfrm>
            <a:off x="5105400" y="1778000"/>
            <a:ext cx="1981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4"/>
          <p:cNvSpPr/>
          <p:nvPr>
            <p:custDataLst>
              <p:tags r:id="rId16"/>
            </p:custDataLst>
          </p:nvPr>
        </p:nvSpPr>
        <p:spPr>
          <a:xfrm>
            <a:off x="5105400" y="1778000"/>
            <a:ext cx="1981200" cy="9144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57800" y="2032000"/>
            <a:ext cx="406400" cy="406400"/>
          </a:xfrm>
          <a:prstGeom prst="rect">
            <a:avLst/>
          </a:prstGeom>
        </p:spPr>
      </p:pic>
      <p:sp>
        <p:nvSpPr>
          <p:cNvPr id="18" name="AutoShape 16"/>
          <p:cNvSpPr/>
          <p:nvPr>
            <p:custDataLst>
              <p:tags r:id="rId20"/>
            </p:custDataLst>
          </p:nvPr>
        </p:nvSpPr>
        <p:spPr>
          <a:xfrm>
            <a:off x="5765800" y="1955800"/>
            <a:ext cx="1193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资金风险</a:t>
            </a:r>
            <a:endParaRPr lang="en-US" sz="1100"/>
          </a:p>
        </p:txBody>
      </p:sp>
      <p:sp>
        <p:nvSpPr>
          <p:cNvPr id="19" name="AutoShape 17"/>
          <p:cNvSpPr/>
          <p:nvPr>
            <p:custDataLst>
              <p:tags r:id="rId21"/>
            </p:custDataLst>
          </p:nvPr>
        </p:nvSpPr>
        <p:spPr>
          <a:xfrm>
            <a:off x="5232400" y="2921000"/>
            <a:ext cx="17272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Aft>
                <a:spcPts val="800"/>
              </a:spcAft>
              <a:defRPr/>
            </a:pPr>
            <a:r>
              <a:rPr lang="en-US" sz="15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采取“里程碑式”分阶段融资策略，匹配业务发展节奏；积极申报高新技术企业及行业专项补贴；建立严格的成本控制体系。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8"/>
          <p:cNvSpPr/>
          <p:nvPr>
            <p:custDataLst>
              <p:tags r:id="rId22"/>
            </p:custDataLst>
          </p:nvPr>
        </p:nvSpPr>
        <p:spPr>
          <a:xfrm>
            <a:off x="7277100" y="1778000"/>
            <a:ext cx="1981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19"/>
          <p:cNvSpPr/>
          <p:nvPr>
            <p:custDataLst>
              <p:tags r:id="rId23"/>
            </p:custDataLst>
          </p:nvPr>
        </p:nvSpPr>
        <p:spPr>
          <a:xfrm>
            <a:off x="7277100" y="1778000"/>
            <a:ext cx="1981200" cy="9144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429500" y="2032000"/>
            <a:ext cx="406400" cy="406400"/>
          </a:xfrm>
          <a:prstGeom prst="rect">
            <a:avLst/>
          </a:prstGeom>
        </p:spPr>
      </p:pic>
      <p:sp>
        <p:nvSpPr>
          <p:cNvPr id="23" name="AutoShape 21"/>
          <p:cNvSpPr/>
          <p:nvPr>
            <p:custDataLst>
              <p:tags r:id="rId27"/>
            </p:custDataLst>
          </p:nvPr>
        </p:nvSpPr>
        <p:spPr>
          <a:xfrm>
            <a:off x="7937500" y="1955800"/>
            <a:ext cx="1193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合规风险</a:t>
            </a:r>
            <a:endParaRPr lang="en-US" sz="1100"/>
          </a:p>
        </p:txBody>
      </p:sp>
      <p:sp>
        <p:nvSpPr>
          <p:cNvPr id="24" name="AutoShape 22"/>
          <p:cNvSpPr/>
          <p:nvPr>
            <p:custDataLst>
              <p:tags r:id="rId28"/>
            </p:custDataLst>
          </p:nvPr>
        </p:nvSpPr>
        <p:spPr>
          <a:xfrm>
            <a:off x="7404100" y="3011805"/>
            <a:ext cx="17272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Aft>
                <a:spcPts val="800"/>
              </a:spcAft>
              <a:defRPr/>
            </a:pPr>
            <a:r>
              <a:rPr lang="en-US" sz="15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对用户隐私数据实施严格的脱敏与加密处理；主动与行业监管部门建立常态化沟通与对接机制，确保全流程业务严格符合国家标准。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3"/>
          <p:cNvSpPr/>
          <p:nvPr>
            <p:custDataLst>
              <p:tags r:id="rId29"/>
            </p:custDataLst>
          </p:nvPr>
        </p:nvSpPr>
        <p:spPr>
          <a:xfrm>
            <a:off x="9448800" y="1778000"/>
            <a:ext cx="1981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4"/>
          <p:cNvSpPr/>
          <p:nvPr>
            <p:custDataLst>
              <p:tags r:id="rId30"/>
            </p:custDataLst>
          </p:nvPr>
        </p:nvSpPr>
        <p:spPr>
          <a:xfrm>
            <a:off x="9448800" y="1778000"/>
            <a:ext cx="1981200" cy="9144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601200" y="2032000"/>
            <a:ext cx="406400" cy="406400"/>
          </a:xfrm>
          <a:prstGeom prst="rect">
            <a:avLst/>
          </a:prstGeom>
        </p:spPr>
      </p:pic>
      <p:sp>
        <p:nvSpPr>
          <p:cNvPr id="28" name="AutoShape 26"/>
          <p:cNvSpPr/>
          <p:nvPr>
            <p:custDataLst>
              <p:tags r:id="rId34"/>
            </p:custDataLst>
          </p:nvPr>
        </p:nvSpPr>
        <p:spPr>
          <a:xfrm>
            <a:off x="10109200" y="1955800"/>
            <a:ext cx="1193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运营风险</a:t>
            </a:r>
            <a:endParaRPr lang="en-US" sz="1100"/>
          </a:p>
        </p:txBody>
      </p:sp>
      <p:sp>
        <p:nvSpPr>
          <p:cNvPr id="29" name="AutoShape 27"/>
          <p:cNvSpPr/>
          <p:nvPr>
            <p:custDataLst>
              <p:tags r:id="rId35"/>
            </p:custDataLst>
          </p:nvPr>
        </p:nvSpPr>
        <p:spPr>
          <a:xfrm>
            <a:off x="9575800" y="2921000"/>
            <a:ext cx="17272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spcAft>
                <a:spcPts val="800"/>
              </a:spcAft>
              <a:defRPr/>
            </a:pPr>
            <a:r>
              <a:rPr lang="en-US" sz="15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应对措施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通过产品与服务深度锁定高价值用户资源；集中优势资源优先突破核心渠道；实施股权激励计划，深度绑定核心运营与技术团队。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 结论：兼具商业与社会价值的优质项目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/>
        </p:nvSpPr>
        <p:spPr>
          <a:xfrm>
            <a:off x="762000" y="1778000"/>
            <a:ext cx="1143000" cy="19685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100" y="2311400"/>
            <a:ext cx="558800" cy="5588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2159000" y="20320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市场空白 · 刚需蓝海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直面1300万言语障碍人群的沟通刚需，目前市场无直接竞品，拥有巨大的市场开拓空间。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6223000" y="17780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8"/>
          <p:cNvSpPr/>
          <p:nvPr/>
        </p:nvSpPr>
        <p:spPr>
          <a:xfrm>
            <a:off x="6223000" y="1778000"/>
            <a:ext cx="1143000" cy="19685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100" y="2311400"/>
            <a:ext cx="558800" cy="558800"/>
          </a:xfrm>
          <a:prstGeom prst="rect">
            <a:avLst/>
          </a:prstGeom>
        </p:spPr>
      </p:pic>
      <p:sp>
        <p:nvSpPr>
          <p:cNvPr id="12" name="AutoShape 10"/>
          <p:cNvSpPr/>
          <p:nvPr/>
        </p:nvSpPr>
        <p:spPr>
          <a:xfrm>
            <a:off x="7620000" y="20320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核心壁垒 · 双重护城河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依托独家积累的庞大用户资源建立壁垒，叠加国家残疾人事业的政策倾斜支持，竞争优势显著。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1"/>
          <p:cNvSpPr/>
          <p:nvPr/>
        </p:nvSpPr>
        <p:spPr>
          <a:xfrm>
            <a:off x="762000" y="40005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2"/>
          <p:cNvSpPr/>
          <p:nvPr/>
        </p:nvSpPr>
        <p:spPr>
          <a:xfrm>
            <a:off x="762000" y="4000500"/>
            <a:ext cx="1143000" cy="19685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4100" y="4533900"/>
            <a:ext cx="558800" cy="558800"/>
          </a:xfrm>
          <a:prstGeom prst="rect">
            <a:avLst/>
          </a:prstGeom>
        </p:spPr>
      </p:pic>
      <p:sp>
        <p:nvSpPr>
          <p:cNvPr id="16" name="AutoShape 14"/>
          <p:cNvSpPr/>
          <p:nvPr/>
        </p:nvSpPr>
        <p:spPr>
          <a:xfrm>
            <a:off x="2159000" y="42545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清晰模式 · 稳健高潜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轻资产运营模式，与多方建立“合作共赢”的伙伴关系，在控制风险的同时，确保可观的商业回报。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5"/>
          <p:cNvSpPr/>
          <p:nvPr/>
        </p:nvSpPr>
        <p:spPr>
          <a:xfrm>
            <a:off x="6223000" y="400050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6"/>
          <p:cNvSpPr/>
          <p:nvPr/>
        </p:nvSpPr>
        <p:spPr>
          <a:xfrm>
            <a:off x="6223000" y="4000500"/>
            <a:ext cx="1143000" cy="19685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5100" y="4533900"/>
            <a:ext cx="558800" cy="558800"/>
          </a:xfrm>
          <a:prstGeom prst="rect">
            <a:avLst/>
          </a:prstGeom>
        </p:spPr>
      </p:pic>
      <p:sp>
        <p:nvSpPr>
          <p:cNvPr id="20" name="AutoShape 18"/>
          <p:cNvSpPr/>
          <p:nvPr/>
        </p:nvSpPr>
        <p:spPr>
          <a:xfrm>
            <a:off x="7620000" y="42545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社会价值 · 使命驱动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致力于打破沟通壁垒，为千万言语障碍人士重塑沟通未来，实现商业价值与社会责任的完美统一。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</a:t>
            </a:r>
            <a:r>
              <a:rPr lang="zh-CN" alt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更远布局</a:t>
            </a:r>
            <a:r>
              <a:rPr 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</a:t>
            </a:r>
            <a:r>
              <a:rPr 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8500</a:t>
            </a:r>
            <a:r>
              <a:rPr lang="zh-CN" alt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万残友</a:t>
            </a:r>
            <a:r>
              <a:rPr lang="en-US" altLang="zh-CN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+3</a:t>
            </a:r>
            <a:r>
              <a:rPr lang="zh-CN" alt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亿老人群体，打通全部</a:t>
            </a:r>
            <a:r>
              <a:rPr lang="en-US" altLang="zh-CN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助残</a:t>
            </a:r>
            <a:r>
              <a:rPr lang="en-US" altLang="zh-CN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2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扶老场景。</a:t>
            </a:r>
            <a:endParaRPr lang="zh-CN" altLang="en-US" sz="2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64668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4"/>
          <p:cNvSpPr/>
          <p:nvPr>
            <p:custDataLst>
              <p:tags r:id="rId2"/>
            </p:custDataLst>
          </p:nvPr>
        </p:nvSpPr>
        <p:spPr>
          <a:xfrm>
            <a:off x="762000" y="2646680"/>
            <a:ext cx="1143000" cy="19685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100" y="3180080"/>
            <a:ext cx="558800" cy="558800"/>
          </a:xfrm>
          <a:prstGeom prst="rect">
            <a:avLst/>
          </a:prstGeom>
        </p:spPr>
      </p:pic>
      <p:sp>
        <p:nvSpPr>
          <p:cNvPr id="7" name="AutoShape 6"/>
          <p:cNvSpPr/>
          <p:nvPr>
            <p:custDataLst>
              <p:tags r:id="rId6"/>
            </p:custDataLst>
          </p:nvPr>
        </p:nvSpPr>
        <p:spPr>
          <a:xfrm>
            <a:off x="2159000" y="290068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AI+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智能轮椅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现有坐轮椅人群约为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1500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万群体，通过集成轮椅智能导航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智能健康监测等功能，切入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抢占市场</a:t>
            </a:r>
            <a:endParaRPr lang="zh-CN" alt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7"/>
          <p:cNvSpPr/>
          <p:nvPr>
            <p:custDataLst>
              <p:tags r:id="rId7"/>
            </p:custDataLst>
          </p:nvPr>
        </p:nvSpPr>
        <p:spPr>
          <a:xfrm>
            <a:off x="6223000" y="2646680"/>
            <a:ext cx="5207000" cy="1968500"/>
          </a:xfrm>
          <a:prstGeom prst="roundRect">
            <a:avLst>
              <a:gd name="adj" fmla="val 77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8"/>
          <p:cNvSpPr/>
          <p:nvPr>
            <p:custDataLst>
              <p:tags r:id="rId8"/>
            </p:custDataLst>
          </p:nvPr>
        </p:nvSpPr>
        <p:spPr>
          <a:xfrm>
            <a:off x="6223000" y="2646680"/>
            <a:ext cx="1143000" cy="1968500"/>
          </a:xfrm>
          <a:prstGeom prst="roundRect">
            <a:avLst>
              <a:gd name="adj" fmla="val 13333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15100" y="3180080"/>
            <a:ext cx="558800" cy="558800"/>
          </a:xfrm>
          <a:prstGeom prst="rect">
            <a:avLst/>
          </a:prstGeom>
        </p:spPr>
      </p:pic>
      <p:sp>
        <p:nvSpPr>
          <p:cNvPr id="12" name="AutoShape 10"/>
          <p:cNvSpPr/>
          <p:nvPr>
            <p:custDataLst>
              <p:tags r:id="rId12"/>
            </p:custDataLst>
          </p:nvPr>
        </p:nvSpPr>
        <p:spPr>
          <a:xfrm>
            <a:off x="7620000" y="290068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zh-CN" altLang="en-US" sz="20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AI+聋哑群体</a:t>
            </a:r>
            <a:endParaRPr lang="zh-CN" altLang="en-US" sz="20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2000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万聋哑患者，利用现有硬件产品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我司助残优势，如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智能眼镜将周围语音实时转成字幕投射在眼前，让听障者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看见声音</a:t>
            </a:r>
            <a:r>
              <a:rPr lang="en-US" altLang="zh-CN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43400" y="5377180"/>
            <a:ext cx="4208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等等更多场景，正</a:t>
            </a:r>
            <a:r>
              <a:rPr lang="zh-CN" altLang="en-US" sz="20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等待开发...</a:t>
            </a:r>
            <a:endParaRPr lang="zh-CN" altLang="en-US" sz="20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3">
                <a:lumMod val="60000"/>
                <a:lumOff val="40000"/>
              </a:schemeClr>
            </a:gs>
            <a:gs pos="99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621780" y="204470"/>
            <a:ext cx="5570220" cy="6534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kern="1200">
                <a:solidFill>
                  <a:srgbClr val="0A6BFF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      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杭州燃言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科技向善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有爱助残</a:t>
            </a:r>
            <a:r>
              <a:rPr lang="zh-CN" altLang="en-US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扶老</a:t>
            </a:r>
            <a:r>
              <a:rPr lang="en-US" altLang="zh-CN" sz="20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zh-CN" altLang="en-US" sz="20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48280" y="695335"/>
            <a:ext cx="445897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/>
          <p:cNvSpPr/>
          <p:nvPr/>
        </p:nvSpPr>
        <p:spPr>
          <a:xfrm>
            <a:off x="0" y="185039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buSzTx/>
              <a:defRPr/>
            </a:pPr>
            <a:r>
              <a:rPr lang="zh-CN" altLang="en-US" sz="3200" b="1" i="0" u="none" strike="noStrike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有爱助残扶</a:t>
            </a:r>
            <a:r>
              <a:rPr lang="zh-CN" altLang="en-US" sz="3200" b="1" i="0" u="none" strike="noStrike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 把握先机</a:t>
            </a:r>
            <a:endParaRPr lang="zh-CN" altLang="en-US" sz="3200" b="1" i="0" u="none" strike="noStrike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3869690" y="2686050"/>
            <a:ext cx="4458335" cy="76200"/>
          </a:xfrm>
          <a:prstGeom prst="roundRect">
            <a:avLst>
              <a:gd name="adj" fmla="val 50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5"/>
          <p:cNvSpPr/>
          <p:nvPr/>
        </p:nvSpPr>
        <p:spPr>
          <a:xfrm>
            <a:off x="877570" y="3108960"/>
            <a:ext cx="1043686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0000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期待与您携手，共创无障碍沟通的美好未来</a:t>
            </a:r>
            <a:endParaRPr lang="en-US" sz="2800" b="1" i="0" u="none" strike="noStrike">
              <a:solidFill>
                <a:srgbClr val="FF0000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1651000" y="4699000"/>
            <a:ext cx="8890000" cy="1651000"/>
          </a:xfrm>
          <a:prstGeom prst="roundRect">
            <a:avLst>
              <a:gd name="adj" fmla="val 923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chemeClr val="accent2">
                <a:alpha val="6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1545" y="5016500"/>
            <a:ext cx="406400" cy="406400"/>
          </a:xfrm>
          <a:prstGeom prst="rect">
            <a:avLst/>
          </a:prstGeom>
        </p:spPr>
      </p:pic>
      <p:sp>
        <p:nvSpPr>
          <p:cNvPr id="9" name="AutoShape 8"/>
          <p:cNvSpPr/>
          <p:nvPr/>
        </p:nvSpPr>
        <p:spPr>
          <a:xfrm>
            <a:off x="4106545" y="49784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联系人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吕国峰</a:t>
            </a: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2545" y="5016500"/>
            <a:ext cx="406400" cy="406400"/>
          </a:xfrm>
          <a:prstGeom prst="rect">
            <a:avLst/>
          </a:prstGeom>
        </p:spPr>
      </p:pic>
      <p:sp>
        <p:nvSpPr>
          <p:cNvPr id="12" name="AutoShape 10"/>
          <p:cNvSpPr/>
          <p:nvPr/>
        </p:nvSpPr>
        <p:spPr>
          <a:xfrm>
            <a:off x="7027545" y="49784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联系电话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[18851037779]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2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3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4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5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6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7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8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9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10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11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12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13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14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15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16.xml><?xml version="1.0" encoding="utf-8"?>
<p:tagLst xmlns:p="http://schemas.openxmlformats.org/presentationml/2006/main">
  <p:tag name="KSO_WM_DIAGRAM_VIRTUALLY_FRAME" val="{&quot;height&quot;:190,&quot;left&quot;:41.2,&quot;top&quot;:140,&quot;width&quot;:692.15}"/>
</p:tagLst>
</file>

<file path=ppt/tags/tag17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18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19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0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1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2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3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4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5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6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7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8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29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30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31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32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33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34.xml><?xml version="1.0" encoding="utf-8"?>
<p:tagLst xmlns:p="http://schemas.openxmlformats.org/presentationml/2006/main">
  <p:tag name="KSO_WM_DIAGRAM_VIRTUALLY_FRAME" val="{&quot;height&quot;:330,&quot;left&quot;:60,&quot;top&quot;:159.9,&quot;width&quot;:840}"/>
</p:tagLst>
</file>

<file path=ppt/tags/tag35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36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37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38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39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0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1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2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3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4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5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6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7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8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49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0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1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2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3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4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5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6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7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8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59.xml><?xml version="1.0" encoding="utf-8"?>
<p:tagLst xmlns:p="http://schemas.openxmlformats.org/presentationml/2006/main">
  <p:tag name="KSO_WM_DIAGRAM_VIRTUALLY_FRAME" val="{&quot;height&quot;:320,&quot;left&quot;:60,&quot;top&quot;:160,&quot;width&quot;:870}"/>
</p:tagLst>
</file>

<file path=ppt/tags/tag60.xml><?xml version="1.0" encoding="utf-8"?>
<p:tagLst xmlns:p="http://schemas.openxmlformats.org/presentationml/2006/main">
  <p:tag name="KSO_WM_DIAGRAM_VIRTUALLY_FRAME" val="{&quot;height&quot;:658.2094488188976,&quot;left&quot;:60.31850393700787,&quot;top&quot;:97.09055118110237,&quot;width&quot;:1291.3815748031498}"/>
</p:tagLst>
</file>

<file path=ppt/tags/tag61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62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63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64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65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66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67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68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69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0.xml><?xml version="1.0" encoding="utf-8"?>
<p:tagLst xmlns:p="http://schemas.openxmlformats.org/presentationml/2006/main">
  <p:tag name="KSO_WM_DIAGRAM_VIRTUALLY_FRAME" val="{&quot;height&quot;:658.2094488188976,&quot;left&quot;:60.31850393700787,&quot;top&quot;:97.09055118110237,&quot;width&quot;:1291.3815748031498}"/>
</p:tagLst>
</file>

<file path=ppt/tags/tag71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2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3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4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5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6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7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8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79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80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81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82.xml><?xml version="1.0" encoding="utf-8"?>
<p:tagLst xmlns:p="http://schemas.openxmlformats.org/presentationml/2006/main">
  <p:tag name="KSO_WM_DIAGRAM_VIRTUALLY_FRAME" val="{&quot;height&quot;:736.1000000000001,&quot;left&quot;:60.31850393700787,&quot;top&quot;:56.5,&quot;width&quot;:1291.3815748031498}"/>
</p:tagLst>
</file>

<file path=ppt/tags/tag83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84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85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86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87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88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89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90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91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92.xml><?xml version="1.0" encoding="utf-8"?>
<p:tagLst xmlns:p="http://schemas.openxmlformats.org/presentationml/2006/main">
  <p:tag name="KSO_WM_DIAGRAM_VIRTUALLY_FRAME" val="{&quot;height&quot;:320,&quot;left&quot;:55.6,&quot;top&quot;:126.75,&quot;width&quot;:840}"/>
</p:tagLst>
</file>

<file path=ppt/tags/tag93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94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95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96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97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98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99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0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1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2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3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4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5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6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7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8.xml><?xml version="1.0" encoding="utf-8"?>
<p:tagLst xmlns:p="http://schemas.openxmlformats.org/presentationml/2006/main">
  <p:tag name="KSO_WM_DIAGRAM_VIRTUALLY_FRAME" val="{&quot;height&quot;:344.4,&quot;left&quot;:55.6,&quot;top&quot;:126.75,&quot;width&quot;:840}"/>
</p:tagLst>
</file>

<file path=ppt/tags/tag109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0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1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2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3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4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5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6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7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8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19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0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1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2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3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4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5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6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7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8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29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30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31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32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33.xml><?xml version="1.0" encoding="utf-8"?>
<p:tagLst xmlns:p="http://schemas.openxmlformats.org/presentationml/2006/main">
  <p:tag name="KSO_WM_DIAGRAM_VIRTUALLY_FRAME" val="{&quot;height&quot;:280,&quot;left&quot;:57.8,&quot;top&quot;:166.5,&quot;width&quot;:860}"/>
</p:tagLst>
</file>

<file path=ppt/tags/tag134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35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36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37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38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39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0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1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2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3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4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5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6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7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8.xml><?xml version="1.0" encoding="utf-8"?>
<p:tagLst xmlns:p="http://schemas.openxmlformats.org/presentationml/2006/main">
  <p:tag name="KSO_WM_DIAGRAM_VIRTUALLY_FRAME" val="{&quot;height&quot;:340,&quot;left&quot;:60,&quot;top&quot;:150,&quot;width&quot;:1041.75}"/>
</p:tagLst>
</file>

<file path=ppt/tags/tag149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0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1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2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3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4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5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6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7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8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59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60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61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62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63.xml><?xml version="1.0" encoding="utf-8"?>
<p:tagLst xmlns:p="http://schemas.openxmlformats.org/presentationml/2006/main">
  <p:tag name="KSO_WM_DIAGRAM_VIRTUALLY_FRAME" val="{&quot;height&quot;:320,&quot;left&quot;:60,&quot;top&quot;:160,&quot;width&quot;:840}"/>
</p:tagLst>
</file>

<file path=ppt/tags/tag16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6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6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6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6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6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7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189.xml><?xml version="1.0" encoding="utf-8"?>
<p:tagLst xmlns:p="http://schemas.openxmlformats.org/presentationml/2006/main">
  <p:tag name="KSO_WM_DIAGRAM_VIRTUALLY_FRAME" val="{&quot;height&quot;:330,&quot;left&quot;:60,&quot;top&quot;:140,&quot;width&quot;:840}"/>
</p:tagLst>
</file>

<file path=ppt/tags/tag190.xml><?xml version="1.0" encoding="utf-8"?>
<p:tagLst xmlns:p="http://schemas.openxmlformats.org/presentationml/2006/main">
  <p:tag name="KSO_WM_DIAGRAM_VIRTUALLY_FRAME" val="{&quot;height&quot;:330,&quot;left&quot;:60,&quot;top&quot;:140,&quot;width&quot;:840}"/>
</p:tagLst>
</file>

<file path=ppt/tags/tag191.xml><?xml version="1.0" encoding="utf-8"?>
<p:tagLst xmlns:p="http://schemas.openxmlformats.org/presentationml/2006/main">
  <p:tag name="KSO_WM_DIAGRAM_VIRTUALLY_FRAME" val="{&quot;height&quot;:330,&quot;left&quot;:60,&quot;top&quot;:140,&quot;width&quot;:840}"/>
</p:tagLst>
</file>

<file path=ppt/tags/tag192.xml><?xml version="1.0" encoding="utf-8"?>
<p:tagLst xmlns:p="http://schemas.openxmlformats.org/presentationml/2006/main">
  <p:tag name="KSO_WM_DIAGRAM_VIRTUALLY_FRAME" val="{&quot;height&quot;:330,&quot;left&quot;:60,&quot;top&quot;:140,&quot;width&quot;:840}"/>
</p:tagLst>
</file>

<file path=ppt/tags/tag193.xml><?xml version="1.0" encoding="utf-8"?>
<p:tagLst xmlns:p="http://schemas.openxmlformats.org/presentationml/2006/main">
  <p:tag name="KSO_WM_DIAGRAM_VIRTUALLY_FRAME" val="{&quot;height&quot;:330,&quot;left&quot;:60,&quot;top&quot;:140,&quot;width&quot;:840}"/>
</p:tagLst>
</file>

<file path=ppt/tags/tag194.xml><?xml version="1.0" encoding="utf-8"?>
<p:tagLst xmlns:p="http://schemas.openxmlformats.org/presentationml/2006/main">
  <p:tag name="KSO_WM_DIAGRAM_VIRTUALLY_FRAME" val="{&quot;height&quot;:330,&quot;left&quot;:60,&quot;top&quot;:140,&quot;width&quot;:840}"/>
</p:tagLst>
</file>

<file path=ppt/tags/tag195.xml><?xml version="1.0" encoding="utf-8"?>
<p:tagLst xmlns:p="http://schemas.openxmlformats.org/presentationml/2006/main">
  <p:tag name="KSO_WM_DIAGRAM_VIRTUALLY_FRAME" val="{&quot;height&quot;:330,&quot;left&quot;:60,&quot;top&quot;:140,&quot;width&quot;:840}"/>
</p:tagLst>
</file>

<file path=ppt/tags/tag196.xml><?xml version="1.0" encoding="utf-8"?>
<p:tagLst xmlns:p="http://schemas.openxmlformats.org/presentationml/2006/main">
  <p:tag name="KSO_WM_DIAGRAM_VIRTUALLY_FRAME" val="{&quot;height&quot;:330,&quot;left&quot;:60,&quot;top&quot;:14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CC7FE"/>
      </a:accent1>
      <a:accent2>
        <a:srgbClr val="809FC1"/>
      </a:accent2>
      <a:accent3>
        <a:srgbClr val="6CC7FE"/>
      </a:accent3>
      <a:accent4>
        <a:srgbClr val="809FC1"/>
      </a:accent4>
      <a:accent5>
        <a:srgbClr val="23ABFD"/>
      </a:accent5>
      <a:accent6>
        <a:srgbClr val="809FC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6812</Words>
  <Application>WPS 演示</Application>
  <PresentationFormat/>
  <Paragraphs>582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宋体</vt:lpstr>
      <vt:lpstr>Wingdings</vt:lpstr>
      <vt:lpstr>Arial</vt:lpstr>
      <vt:lpstr>微软雅黑</vt:lpstr>
      <vt:lpstr>Noto Sans SC</vt:lpstr>
      <vt:lpstr>Roboto Regular</vt:lpstr>
      <vt:lpstr>思源黑体 CN Regular</vt:lpstr>
      <vt:lpstr>思源黑体</vt:lpstr>
      <vt:lpstr>Wingdings</vt:lpstr>
      <vt:lpstr>等线</vt:lpstr>
      <vt:lpstr>Arial Unicode MS</vt:lpstr>
      <vt:lpstr>Segoe Print</vt:lpstr>
      <vt:lpstr>黑体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峰</cp:lastModifiedBy>
  <cp:revision>23</cp:revision>
  <dcterms:created xsi:type="dcterms:W3CDTF">2026-05-14T00:37:00Z</dcterms:created>
  <dcterms:modified xsi:type="dcterms:W3CDTF">2026-08-22T10:17:47Z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2052-12.1.0.26988</vt:lpwstr>
  </property>
  <property fmtid="{D5CDD505-2E9C-101B-9397-08002B2CF9AE}" pid="3" name="ICV">
    <vt:lpwstr>424764CC478344F8BD3C8D968D03F327_13</vt:lpwstr>
  </property>
</Properties>
</file>